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0a3d440f-70a7-b232-707c-04b589379df4}">
          <p14:sldIdLst>
            <p14:sldId id="256"/>
            <p14:sldId id="257"/>
          </p14:sldIdLst>
        </p14:section>
        <p14:section name="سلامة المركبات" id="{0435ba32-f583-78ae-adca-00babebd3d8f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سلامة الأشخاص" id="{33755c41-6cd5-bbba-7a24-75285e04db10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الختام" id="{40420caf-d87f-c1db-8ded-1bcd7d16ecc8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تقديمي حول سلامة المركبات وسلامة الأشخاص في مواقع العمل.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الأول: سلامة المركبات بستة عناصر. المحور الثاني: سلامة الأشخاص بسبعة عناصر.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 العام من سلامة المركبات.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أبرز مصادر الخطر المرتبطة بحركة المركبات داخل الموقع.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التخطيط الجيد للموقع يمنع التداخل بين المشاة والمركبات قبل أن يحدث.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أربعة عناصر لإدارة المركبات والمعدات: الاختيار، الصيانة، وسائل الأمان، والفحص.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السلوك الآمن يبدأ بالتدريب والتصاريح ويستمر بثقافة إبلاغ لا تعاقب.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دورة التحكم في السرعة: تحديد الحدود، تهدئة الحركة، مراقبة الامتثال، ثم التصحيح.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الاستجابة للطوارئ لا تكتمل دون تحسين مستمر عبر دورة التخطيط والتنفيذ والتحقق والتحسين.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 من سلامة الأشخاص.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المخاطر التي تهدد الأشخاص مباشرة عند تواجدهم قرب المركبات.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مرجعان عالميان في التدريب والتوعية: WorkSafe WA وIOSH.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تجهيزات الحماية الشخصية الأساسية في المواقع التي تتحرك فيها المركبات.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إرشادات عامة تميّز بين الممنوعات والالتزامات للمشاة والسائقين.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إدارة السائقين: التأهيل، المراقبة، الراحة، اللياقة، والحظر الصارم للقيادة تحت التأثير.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التواصل الواضح والإشراف الفعّال يربطان جميع عناصر السلامة ببعضها.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Safety – Act Safely: فكّر بأمان، تصرّف بأمان.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206240" y="1828800"/>
            <a:ext cx="743407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206240" y="2331720"/>
            <a:ext cx="743407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عار المؤسسة العامة للتدريب التقني والمهن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07428" cy="5486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sp>
        <p:nvSpPr>
          <p:cNvPr id="5" name="Text 0"/>
          <p:cNvSpPr/>
          <p:nvPr/>
        </p:nvSpPr>
        <p:spPr>
          <a:xfrm>
            <a:off x="7068312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الكلية التقنية للبنات بالبدائع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1_logobg"/>
          <p:cNvSpPr/>
          <p:nvPr/>
        </p:nvSpPr>
        <p:spPr>
          <a:xfrm>
            <a:off x="9144000" y="411480"/>
            <a:ext cx="249631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pic>
        <p:nvPicPr>
          <p:cNvPr id="3" name="g1_logo" descr="شعار المؤسسة العامة للتدريب التقني والمهن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484632"/>
            <a:ext cx="1859162" cy="67665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4206240" y="1828800"/>
            <a:ext cx="7434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الكلية التقنية للبنات بالبدائع</a:t>
            </a:r>
            <a:endParaRPr lang="en-US" sz="18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4206240" y="2331720"/>
            <a:ext cx="7434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سلامة المركبات</a:t>
            </a:r>
            <a:endParaRPr lang="en-US" sz="5000" dirty="0"/>
          </a:p>
          <a:p>
            <a:pPr rtl="1" algn="r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وسلامة الأشخاص</a:t>
            </a:r>
            <a:endParaRPr lang="en-US" sz="5000" dirty="0"/>
          </a:p>
        </p:txBody>
      </p:sp>
      <p:sp>
        <p:nvSpPr>
          <p:cNvPr id="6" name="g2_sub"/>
          <p:cNvSpPr txBox="1"/>
          <p:nvPr/>
        </p:nvSpPr>
        <p:spPr>
          <a:xfrm>
            <a:off x="5120640" y="4297680"/>
            <a:ext cx="6519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5"/>
                </a:solidFill>
              </a:rPr>
              <a:t>بيئة عمل آمنة داخل مواقع العمل</a:t>
            </a:r>
            <a:endParaRPr lang="ar-SA" sz="1800" dirty="0"/>
          </a:p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5"/>
                </a:solidFill>
              </a:rPr>
              <a:t>تخطيط جيد · تنظيم · تدريب · مراقبة مستمرة</a:t>
            </a:r>
            <a:endParaRPr lang="ar-SA" sz="1800" dirty="0"/>
          </a:p>
        </p:txBody>
      </p:sp>
      <p:sp>
        <p:nvSpPr>
          <p:cNvPr id="7" name="g3_c1"/>
          <p:cNvSpPr/>
          <p:nvPr/>
        </p:nvSpPr>
        <p:spPr>
          <a:xfrm>
            <a:off x="640080" y="1417320"/>
            <a:ext cx="3291840" cy="3291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g3_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377440"/>
            <a:ext cx="1371600" cy="1371600"/>
          </a:xfrm>
          <a:prstGeom prst="rect">
            <a:avLst/>
          </a:prstGeom>
        </p:spPr>
      </p:pic>
      <p:sp>
        <p:nvSpPr>
          <p:cNvPr id="9" name="g4_c2"/>
          <p:cNvSpPr/>
          <p:nvPr/>
        </p:nvSpPr>
        <p:spPr>
          <a:xfrm>
            <a:off x="2651760" y="3703320"/>
            <a:ext cx="2011680" cy="2011680"/>
          </a:xfrm>
          <a:prstGeom prst="ellipse">
            <a:avLst/>
          </a:prstGeom>
          <a:solidFill>
            <a:schemeClr val="accent2"/>
          </a:solidFill>
          <a:ln w="76200">
            <a:solidFill>
              <a:srgbClr val="0B2545"/>
            </a:solidFill>
            <a:prstDash val="solid"/>
          </a:ln>
        </p:spPr>
      </p:sp>
      <p:pic>
        <p:nvPicPr>
          <p:cNvPr id="10" name="g4_i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251960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4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محاور العرض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ماذا سنتناول اليوم؟</a:t>
            </a:r>
            <a:endParaRPr lang="en-US" sz="3400" dirty="0"/>
          </a:p>
        </p:txBody>
      </p:sp>
      <p:sp>
        <p:nvSpPr>
          <p:cNvPr id="4" name="g1_card"/>
          <p:cNvSpPr/>
          <p:nvPr/>
        </p:nvSpPr>
        <p:spPr>
          <a:xfrm>
            <a:off x="6231636" y="1691640"/>
            <a:ext cx="5408676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g1_circle"/>
          <p:cNvSpPr/>
          <p:nvPr/>
        </p:nvSpPr>
        <p:spPr>
          <a:xfrm>
            <a:off x="10680192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6613" y="2132381"/>
            <a:ext cx="307238" cy="307238"/>
          </a:xfrm>
          <a:prstGeom prst="rect">
            <a:avLst/>
          </a:prstGeom>
        </p:spPr>
      </p:pic>
      <p:sp>
        <p:nvSpPr>
          <p:cNvPr id="7" name="g1_t"/>
          <p:cNvSpPr txBox="1"/>
          <p:nvPr/>
        </p:nvSpPr>
        <p:spPr>
          <a:xfrm>
            <a:off x="6551676" y="1965960"/>
            <a:ext cx="39456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سلامة المركبات</a:t>
            </a:r>
            <a:endParaRPr lang="ar-SA" sz="2200" dirty="0"/>
          </a:p>
        </p:txBody>
      </p:sp>
      <p:sp>
        <p:nvSpPr>
          <p:cNvPr id="8" name="g1_n0"/>
          <p:cNvSpPr/>
          <p:nvPr/>
        </p:nvSpPr>
        <p:spPr>
          <a:xfrm>
            <a:off x="11009376" y="29077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g1_nt0"/>
          <p:cNvSpPr txBox="1"/>
          <p:nvPr/>
        </p:nvSpPr>
        <p:spPr>
          <a:xfrm>
            <a:off x="11009376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g1_i0"/>
          <p:cNvSpPr txBox="1"/>
          <p:nvPr/>
        </p:nvSpPr>
        <p:spPr>
          <a:xfrm>
            <a:off x="6551676" y="28346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تحديد المخاطر</a:t>
            </a:r>
            <a:endParaRPr lang="ar-SA" sz="1600" dirty="0"/>
          </a:p>
        </p:txBody>
      </p:sp>
      <p:sp>
        <p:nvSpPr>
          <p:cNvPr id="11" name="g1_n1"/>
          <p:cNvSpPr/>
          <p:nvPr/>
        </p:nvSpPr>
        <p:spPr>
          <a:xfrm>
            <a:off x="11009376" y="33649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g1_nt1"/>
          <p:cNvSpPr txBox="1"/>
          <p:nvPr/>
        </p:nvSpPr>
        <p:spPr>
          <a:xfrm>
            <a:off x="11009376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g1_i1"/>
          <p:cNvSpPr txBox="1"/>
          <p:nvPr/>
        </p:nvSpPr>
        <p:spPr>
          <a:xfrm>
            <a:off x="6551676" y="32918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تصميم وتخطيط الموقع</a:t>
            </a:r>
            <a:endParaRPr lang="ar-SA" sz="1600" dirty="0"/>
          </a:p>
        </p:txBody>
      </p:sp>
      <p:sp>
        <p:nvSpPr>
          <p:cNvPr id="14" name="g1_n2"/>
          <p:cNvSpPr/>
          <p:nvPr/>
        </p:nvSpPr>
        <p:spPr>
          <a:xfrm>
            <a:off x="11009376" y="38221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g1_nt2"/>
          <p:cNvSpPr txBox="1"/>
          <p:nvPr/>
        </p:nvSpPr>
        <p:spPr>
          <a:xfrm>
            <a:off x="11009376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g1_i2"/>
          <p:cNvSpPr txBox="1"/>
          <p:nvPr/>
        </p:nvSpPr>
        <p:spPr>
          <a:xfrm>
            <a:off x="6551676" y="37490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إدارة المركبات والمعدات</a:t>
            </a:r>
            <a:endParaRPr lang="ar-SA" sz="1600" dirty="0"/>
          </a:p>
        </p:txBody>
      </p:sp>
      <p:sp>
        <p:nvSpPr>
          <p:cNvPr id="17" name="g1_n3"/>
          <p:cNvSpPr/>
          <p:nvPr/>
        </p:nvSpPr>
        <p:spPr>
          <a:xfrm>
            <a:off x="11009376" y="42793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g1_nt3"/>
          <p:cNvSpPr txBox="1"/>
          <p:nvPr/>
        </p:nvSpPr>
        <p:spPr>
          <a:xfrm>
            <a:off x="11009376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g1_i3"/>
          <p:cNvSpPr txBox="1"/>
          <p:nvPr/>
        </p:nvSpPr>
        <p:spPr>
          <a:xfrm>
            <a:off x="6551676" y="4206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إدارة الأشخاص والسلوك الآمن</a:t>
            </a:r>
            <a:endParaRPr lang="ar-SA" sz="1600" dirty="0"/>
          </a:p>
        </p:txBody>
      </p:sp>
      <p:sp>
        <p:nvSpPr>
          <p:cNvPr id="20" name="g1_n4"/>
          <p:cNvSpPr/>
          <p:nvPr/>
        </p:nvSpPr>
        <p:spPr>
          <a:xfrm>
            <a:off x="11009376" y="47365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g1_nt4"/>
          <p:cNvSpPr txBox="1"/>
          <p:nvPr/>
        </p:nvSpPr>
        <p:spPr>
          <a:xfrm>
            <a:off x="11009376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g1_i4"/>
          <p:cNvSpPr txBox="1"/>
          <p:nvPr/>
        </p:nvSpPr>
        <p:spPr>
          <a:xfrm>
            <a:off x="6551676" y="46634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التحكم في السرعة والمراقبة</a:t>
            </a:r>
            <a:endParaRPr lang="ar-SA" sz="1600" dirty="0"/>
          </a:p>
        </p:txBody>
      </p:sp>
      <p:sp>
        <p:nvSpPr>
          <p:cNvPr id="23" name="g1_n5"/>
          <p:cNvSpPr/>
          <p:nvPr/>
        </p:nvSpPr>
        <p:spPr>
          <a:xfrm>
            <a:off x="11009376" y="51937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g1_nt5"/>
          <p:cNvSpPr txBox="1"/>
          <p:nvPr/>
        </p:nvSpPr>
        <p:spPr>
          <a:xfrm>
            <a:off x="11009376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g1_i5"/>
          <p:cNvSpPr txBox="1"/>
          <p:nvPr/>
        </p:nvSpPr>
        <p:spPr>
          <a:xfrm>
            <a:off x="6551676" y="51206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الاستجابة للطوارئ والتحسين المستمر</a:t>
            </a:r>
            <a:endParaRPr lang="ar-SA" sz="1600" dirty="0"/>
          </a:p>
        </p:txBody>
      </p:sp>
      <p:sp>
        <p:nvSpPr>
          <p:cNvPr id="26" name="g2_card"/>
          <p:cNvSpPr/>
          <p:nvPr/>
        </p:nvSpPr>
        <p:spPr>
          <a:xfrm>
            <a:off x="548640" y="1691640"/>
            <a:ext cx="5408676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7" name="g2_circle"/>
          <p:cNvSpPr/>
          <p:nvPr/>
        </p:nvSpPr>
        <p:spPr>
          <a:xfrm>
            <a:off x="4997196" y="1965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617" y="2132381"/>
            <a:ext cx="307238" cy="307238"/>
          </a:xfrm>
          <a:prstGeom prst="rect">
            <a:avLst/>
          </a:prstGeom>
        </p:spPr>
      </p:pic>
      <p:sp>
        <p:nvSpPr>
          <p:cNvPr id="29" name="g2_t"/>
          <p:cNvSpPr txBox="1"/>
          <p:nvPr/>
        </p:nvSpPr>
        <p:spPr>
          <a:xfrm>
            <a:off x="868680" y="1965960"/>
            <a:ext cx="39456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سلامة الأشخاص</a:t>
            </a:r>
            <a:endParaRPr lang="ar-SA" sz="2200" dirty="0"/>
          </a:p>
        </p:txBody>
      </p:sp>
      <p:sp>
        <p:nvSpPr>
          <p:cNvPr id="30" name="g2_n0"/>
          <p:cNvSpPr/>
          <p:nvPr/>
        </p:nvSpPr>
        <p:spPr>
          <a:xfrm>
            <a:off x="5326380" y="290779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g2_nt0"/>
          <p:cNvSpPr txBox="1"/>
          <p:nvPr/>
        </p:nvSpPr>
        <p:spPr>
          <a:xfrm>
            <a:off x="532638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2" name="g2_i0"/>
          <p:cNvSpPr txBox="1"/>
          <p:nvPr/>
        </p:nvSpPr>
        <p:spPr>
          <a:xfrm>
            <a:off x="868680" y="28346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تحديد المخاطر على الأشخاص</a:t>
            </a:r>
            <a:endParaRPr lang="ar-SA" sz="1600" dirty="0"/>
          </a:p>
        </p:txBody>
      </p:sp>
      <p:sp>
        <p:nvSpPr>
          <p:cNvPr id="33" name="g2_n1"/>
          <p:cNvSpPr/>
          <p:nvPr/>
        </p:nvSpPr>
        <p:spPr>
          <a:xfrm>
            <a:off x="5326380" y="336499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g2_nt1"/>
          <p:cNvSpPr txBox="1"/>
          <p:nvPr/>
        </p:nvSpPr>
        <p:spPr>
          <a:xfrm>
            <a:off x="532638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g2_i1"/>
          <p:cNvSpPr txBox="1"/>
          <p:nvPr/>
        </p:nvSpPr>
        <p:spPr>
          <a:xfrm>
            <a:off x="868680" y="32918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تدريب وتوعية العاملين</a:t>
            </a:r>
            <a:endParaRPr lang="ar-SA" sz="1600" dirty="0"/>
          </a:p>
        </p:txBody>
      </p:sp>
      <p:sp>
        <p:nvSpPr>
          <p:cNvPr id="36" name="g2_n2"/>
          <p:cNvSpPr/>
          <p:nvPr/>
        </p:nvSpPr>
        <p:spPr>
          <a:xfrm>
            <a:off x="5326380" y="382219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g2_nt2"/>
          <p:cNvSpPr txBox="1"/>
          <p:nvPr/>
        </p:nvSpPr>
        <p:spPr>
          <a:xfrm>
            <a:off x="532638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8" name="g2_i2"/>
          <p:cNvSpPr txBox="1"/>
          <p:nvPr/>
        </p:nvSpPr>
        <p:spPr>
          <a:xfrm>
            <a:off x="868680" y="37490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ملابس وتجهيزات الحماية الشخصية</a:t>
            </a:r>
            <a:endParaRPr lang="ar-SA" sz="1600" dirty="0"/>
          </a:p>
        </p:txBody>
      </p:sp>
      <p:sp>
        <p:nvSpPr>
          <p:cNvPr id="39" name="g2_n3"/>
          <p:cNvSpPr/>
          <p:nvPr/>
        </p:nvSpPr>
        <p:spPr>
          <a:xfrm>
            <a:off x="5326380" y="427939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g2_nt3"/>
          <p:cNvSpPr txBox="1"/>
          <p:nvPr/>
        </p:nvSpPr>
        <p:spPr>
          <a:xfrm>
            <a:off x="532638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1" name="g2_i3"/>
          <p:cNvSpPr txBox="1"/>
          <p:nvPr/>
        </p:nvSpPr>
        <p:spPr>
          <a:xfrm>
            <a:off x="868680" y="4206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سلوك المشاة والسائقين</a:t>
            </a:r>
            <a:endParaRPr lang="ar-SA" sz="1600" dirty="0"/>
          </a:p>
        </p:txBody>
      </p:sp>
      <p:sp>
        <p:nvSpPr>
          <p:cNvPr id="42" name="g2_n4"/>
          <p:cNvSpPr/>
          <p:nvPr/>
        </p:nvSpPr>
        <p:spPr>
          <a:xfrm>
            <a:off x="5326380" y="473659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3" name="g2_nt4"/>
          <p:cNvSpPr txBox="1"/>
          <p:nvPr/>
        </p:nvSpPr>
        <p:spPr>
          <a:xfrm>
            <a:off x="5326380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g2_i4"/>
          <p:cNvSpPr txBox="1"/>
          <p:nvPr/>
        </p:nvSpPr>
        <p:spPr>
          <a:xfrm>
            <a:off x="868680" y="46634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إدارة العاملين والسائقين</a:t>
            </a:r>
            <a:endParaRPr lang="ar-SA" sz="1600" dirty="0"/>
          </a:p>
        </p:txBody>
      </p:sp>
      <p:sp>
        <p:nvSpPr>
          <p:cNvPr id="45" name="g2_n5"/>
          <p:cNvSpPr/>
          <p:nvPr/>
        </p:nvSpPr>
        <p:spPr>
          <a:xfrm>
            <a:off x="5326380" y="519379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g2_nt5"/>
          <p:cNvSpPr txBox="1"/>
          <p:nvPr/>
        </p:nvSpPr>
        <p:spPr>
          <a:xfrm>
            <a:off x="532638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7" name="g2_i5"/>
          <p:cNvSpPr txBox="1"/>
          <p:nvPr/>
        </p:nvSpPr>
        <p:spPr>
          <a:xfrm>
            <a:off x="868680" y="51206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التواصل والإشراف</a:t>
            </a:r>
            <a:endParaRPr lang="ar-SA" sz="1600" dirty="0"/>
          </a:p>
        </p:txBody>
      </p:sp>
      <p:sp>
        <p:nvSpPr>
          <p:cNvPr id="48" name="g2_n6"/>
          <p:cNvSpPr/>
          <p:nvPr/>
        </p:nvSpPr>
        <p:spPr>
          <a:xfrm>
            <a:off x="5326380" y="565099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9" name="g2_nt6"/>
          <p:cNvSpPr txBox="1"/>
          <p:nvPr/>
        </p:nvSpPr>
        <p:spPr>
          <a:xfrm>
            <a:off x="5326380" y="5650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0" name="g2_i6"/>
          <p:cNvSpPr txBox="1"/>
          <p:nvPr/>
        </p:nvSpPr>
        <p:spPr>
          <a:xfrm>
            <a:off x="868680" y="55778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ثقافة السلامة والسلوك الإيجابي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00"/>
                            </p:stCondLst>
                            <p:childTnLst>
                              <p:par>
                                <p:cTn id="1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6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6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6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6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206240" y="1828800"/>
            <a:ext cx="7434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المحور الأول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206240" y="2331720"/>
            <a:ext cx="7434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سلامة المركبات</a:t>
            </a:r>
            <a:endParaRPr lang="en-US" sz="5000" dirty="0"/>
          </a:p>
        </p:txBody>
      </p:sp>
      <p:sp>
        <p:nvSpPr>
          <p:cNvPr id="4" name="g1_num"/>
          <p:cNvSpPr txBox="1"/>
          <p:nvPr/>
        </p:nvSpPr>
        <p:spPr>
          <a:xfrm>
            <a:off x="548640" y="8229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1"/>
                </a:solidFill>
              </a:rPr>
              <a:t>01</a:t>
            </a:r>
            <a:endParaRPr lang="en-US" sz="15000" dirty="0"/>
          </a:p>
        </p:txBody>
      </p:sp>
      <p:sp>
        <p:nvSpPr>
          <p:cNvPr id="5" name="g1_circle"/>
          <p:cNvSpPr/>
          <p:nvPr/>
        </p:nvSpPr>
        <p:spPr>
          <a:xfrm>
            <a:off x="685800" y="3246120"/>
            <a:ext cx="1463040" cy="14630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3626510"/>
            <a:ext cx="702259" cy="702259"/>
          </a:xfrm>
          <a:prstGeom prst="rect">
            <a:avLst/>
          </a:prstGeom>
        </p:spPr>
      </p:pic>
      <p:sp>
        <p:nvSpPr>
          <p:cNvPr id="7" name="g2_box"/>
          <p:cNvSpPr/>
          <p:nvPr/>
        </p:nvSpPr>
        <p:spPr>
          <a:xfrm>
            <a:off x="4206240" y="3520440"/>
            <a:ext cx="7434072" cy="251460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/>
        </p:spPr>
      </p:sp>
      <p:pic>
        <p:nvPicPr>
          <p:cNvPr id="8" name="g2_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3749040"/>
            <a:ext cx="411480" cy="411480"/>
          </a:xfrm>
          <a:prstGeom prst="rect">
            <a:avLst/>
          </a:prstGeom>
        </p:spPr>
      </p:pic>
      <p:sp>
        <p:nvSpPr>
          <p:cNvPr id="9" name="g2_lbl"/>
          <p:cNvSpPr txBox="1"/>
          <p:nvPr/>
        </p:nvSpPr>
        <p:spPr>
          <a:xfrm>
            <a:off x="4572000" y="3721608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1"/>
                </a:solidFill>
              </a:rPr>
              <a:t>الهدف العام</a:t>
            </a:r>
            <a:endParaRPr lang="ar-SA" sz="1800" dirty="0"/>
          </a:p>
        </p:txBody>
      </p:sp>
      <p:sp>
        <p:nvSpPr>
          <p:cNvPr id="10" name="g2_goal"/>
          <p:cNvSpPr txBox="1"/>
          <p:nvPr/>
        </p:nvSpPr>
        <p:spPr>
          <a:xfrm>
            <a:off x="4572000" y="4297680"/>
            <a:ext cx="6839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dirty="0">
                <a:solidFill>
                  <a:schemeClr val="bg1"/>
                </a:solidFill>
              </a:rPr>
              <a:t>تحقيق بيئة عمل آمنة تقل فيها مخاطر الحوادث الناجمة عن حركة المركبات والمعدات المتنقلة داخل مواقع العمل من خلال التخطيط الجيد، التنظيم، التدريب، والمراقبة المستمرة.</a:t>
            </a:r>
            <a:endParaRPr lang="ar-SA" sz="19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المركبات · أولاً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تحديد المخاطر</a:t>
            </a:r>
            <a:endParaRPr lang="en-US" sz="3400" dirty="0"/>
          </a:p>
        </p:txBody>
      </p:sp>
      <p:sp>
        <p:nvSpPr>
          <p:cNvPr id="4" name="g1_panel"/>
          <p:cNvSpPr/>
          <p:nvPr/>
        </p:nvSpPr>
        <p:spPr>
          <a:xfrm>
            <a:off x="548640" y="1691640"/>
            <a:ext cx="3291840" cy="44805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/>
        </p:spPr>
      </p:sp>
      <p:sp>
        <p:nvSpPr>
          <p:cNvPr id="5" name="g1_circle"/>
          <p:cNvSpPr/>
          <p:nvPr/>
        </p:nvSpPr>
        <p:spPr>
          <a:xfrm>
            <a:off x="1463040" y="2103120"/>
            <a:ext cx="1463040" cy="14630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170" y="2454250"/>
            <a:ext cx="760781" cy="760781"/>
          </a:xfrm>
          <a:prstGeom prst="rect">
            <a:avLst/>
          </a:prstGeom>
        </p:spPr>
      </p:pic>
      <p:sp>
        <p:nvSpPr>
          <p:cNvPr id="7" name="g1_n"/>
          <p:cNvSpPr txBox="1"/>
          <p:nvPr/>
        </p:nvSpPr>
        <p:spPr>
          <a:xfrm>
            <a:off x="548640" y="37033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5</a:t>
            </a:r>
            <a:endParaRPr lang="en-US" sz="7200" dirty="0"/>
          </a:p>
        </p:txBody>
      </p:sp>
      <p:sp>
        <p:nvSpPr>
          <p:cNvPr id="8" name="g1_l"/>
          <p:cNvSpPr txBox="1"/>
          <p:nvPr/>
        </p:nvSpPr>
        <p:spPr>
          <a:xfrm>
            <a:off x="822960" y="4800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chemeClr val="bg1"/>
                </a:solidFill>
              </a:rPr>
              <a:t>مخاطر رئيسية لحركة المركبات</a:t>
            </a:r>
            <a:endParaRPr lang="ar-SA" sz="1700" dirty="0"/>
          </a:p>
        </p:txBody>
      </p:sp>
      <p:sp>
        <p:nvSpPr>
          <p:cNvPr id="9" name="g2_card"/>
          <p:cNvSpPr/>
          <p:nvPr/>
        </p:nvSpPr>
        <p:spPr>
          <a:xfrm>
            <a:off x="4114800" y="1691640"/>
            <a:ext cx="75255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g2_circle"/>
          <p:cNvSpPr/>
          <p:nvPr/>
        </p:nvSpPr>
        <p:spPr>
          <a:xfrm>
            <a:off x="10908792" y="1801368"/>
            <a:ext cx="530352" cy="53035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1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6684" y="1939260"/>
            <a:ext cx="254569" cy="254569"/>
          </a:xfrm>
          <a:prstGeom prst="rect">
            <a:avLst/>
          </a:prstGeom>
        </p:spPr>
      </p:pic>
      <p:sp>
        <p:nvSpPr>
          <p:cNvPr id="12" name="g2_text"/>
          <p:cNvSpPr txBox="1"/>
          <p:nvPr/>
        </p:nvSpPr>
        <p:spPr>
          <a:xfrm>
            <a:off x="4389120" y="1691640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التقاطعات بين المركبات والمشاة.</a:t>
            </a:r>
            <a:endParaRPr lang="ar-SA" sz="1700" dirty="0"/>
          </a:p>
        </p:txBody>
      </p:sp>
      <p:sp>
        <p:nvSpPr>
          <p:cNvPr id="13" name="g3_card"/>
          <p:cNvSpPr/>
          <p:nvPr/>
        </p:nvSpPr>
        <p:spPr>
          <a:xfrm>
            <a:off x="4114800" y="2624328"/>
            <a:ext cx="75255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g3_circle"/>
          <p:cNvSpPr/>
          <p:nvPr/>
        </p:nvSpPr>
        <p:spPr>
          <a:xfrm>
            <a:off x="10908792" y="2734056"/>
            <a:ext cx="530352" cy="53035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5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6684" y="2871948"/>
            <a:ext cx="254569" cy="254569"/>
          </a:xfrm>
          <a:prstGeom prst="rect">
            <a:avLst/>
          </a:prstGeom>
        </p:spPr>
      </p:pic>
      <p:sp>
        <p:nvSpPr>
          <p:cNvPr id="16" name="g3_text"/>
          <p:cNvSpPr txBox="1"/>
          <p:nvPr/>
        </p:nvSpPr>
        <p:spPr>
          <a:xfrm>
            <a:off x="4389120" y="2624328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سوء الرؤية أو النقاط العمياء للسائقين.</a:t>
            </a:r>
            <a:endParaRPr lang="ar-SA" sz="1700" dirty="0"/>
          </a:p>
        </p:txBody>
      </p:sp>
      <p:sp>
        <p:nvSpPr>
          <p:cNvPr id="17" name="g4_card"/>
          <p:cNvSpPr/>
          <p:nvPr/>
        </p:nvSpPr>
        <p:spPr>
          <a:xfrm>
            <a:off x="4114800" y="3557016"/>
            <a:ext cx="75255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g4_circle"/>
          <p:cNvSpPr/>
          <p:nvPr/>
        </p:nvSpPr>
        <p:spPr>
          <a:xfrm>
            <a:off x="10908792" y="3666744"/>
            <a:ext cx="530352" cy="53035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9" name="g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6684" y="3804636"/>
            <a:ext cx="254569" cy="254569"/>
          </a:xfrm>
          <a:prstGeom prst="rect">
            <a:avLst/>
          </a:prstGeom>
        </p:spPr>
      </p:pic>
      <p:sp>
        <p:nvSpPr>
          <p:cNvPr id="20" name="g4_text"/>
          <p:cNvSpPr txBox="1"/>
          <p:nvPr/>
        </p:nvSpPr>
        <p:spPr>
          <a:xfrm>
            <a:off x="4389120" y="3557016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القيادة بسرعة غير مناسبة أو في بيئات غير مستقرة.</a:t>
            </a:r>
            <a:endParaRPr lang="ar-SA" sz="1700" dirty="0"/>
          </a:p>
        </p:txBody>
      </p:sp>
      <p:sp>
        <p:nvSpPr>
          <p:cNvPr id="21" name="g5_card"/>
          <p:cNvSpPr/>
          <p:nvPr/>
        </p:nvSpPr>
        <p:spPr>
          <a:xfrm>
            <a:off x="4114800" y="4489704"/>
            <a:ext cx="75255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g5_circle"/>
          <p:cNvSpPr/>
          <p:nvPr/>
        </p:nvSpPr>
        <p:spPr>
          <a:xfrm>
            <a:off x="10908792" y="4599432"/>
            <a:ext cx="530352" cy="53035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3" name="g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6684" y="4737324"/>
            <a:ext cx="254569" cy="254569"/>
          </a:xfrm>
          <a:prstGeom prst="rect">
            <a:avLst/>
          </a:prstGeom>
        </p:spPr>
      </p:pic>
      <p:sp>
        <p:nvSpPr>
          <p:cNvPr id="24" name="g5_text"/>
          <p:cNvSpPr txBox="1"/>
          <p:nvPr/>
        </p:nvSpPr>
        <p:spPr>
          <a:xfrm>
            <a:off x="4389120" y="4489704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عمليات التحميل والتفريغ في مناطق غير مخصصة.</a:t>
            </a:r>
            <a:endParaRPr lang="ar-SA" sz="1700" dirty="0"/>
          </a:p>
        </p:txBody>
      </p:sp>
      <p:sp>
        <p:nvSpPr>
          <p:cNvPr id="25" name="g6_card"/>
          <p:cNvSpPr/>
          <p:nvPr/>
        </p:nvSpPr>
        <p:spPr>
          <a:xfrm>
            <a:off x="4114800" y="5422392"/>
            <a:ext cx="75255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g6_circle"/>
          <p:cNvSpPr/>
          <p:nvPr/>
        </p:nvSpPr>
        <p:spPr>
          <a:xfrm>
            <a:off x="10908792" y="5532120"/>
            <a:ext cx="530352" cy="53035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7" name="g6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6684" y="5670012"/>
            <a:ext cx="254569" cy="254569"/>
          </a:xfrm>
          <a:prstGeom prst="rect">
            <a:avLst/>
          </a:prstGeom>
        </p:spPr>
      </p:pic>
      <p:sp>
        <p:nvSpPr>
          <p:cNvPr id="28" name="g6_text"/>
          <p:cNvSpPr txBox="1"/>
          <p:nvPr/>
        </p:nvSpPr>
        <p:spPr>
          <a:xfrm>
            <a:off x="4389120" y="5422392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المركبات غير المجهزة أو غير المُصانة جيدًا.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5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75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"/>
                            </p:stCondLst>
                            <p:childTnLst>
                              <p:par>
                                <p:cTn id="1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المركبات · ثانيًا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تصميم وتخطيط الموقع</a:t>
            </a:r>
            <a:endParaRPr lang="en-US" sz="3400" dirty="0"/>
          </a:p>
        </p:txBody>
      </p:sp>
      <p:sp>
        <p:nvSpPr>
          <p:cNvPr id="4" name="g1_card"/>
          <p:cNvSpPr/>
          <p:nvPr/>
        </p:nvSpPr>
        <p:spPr>
          <a:xfrm>
            <a:off x="6231636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g1_circle"/>
          <p:cNvSpPr/>
          <p:nvPr/>
        </p:nvSpPr>
        <p:spPr>
          <a:xfrm>
            <a:off x="10588752" y="1984248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8947" y="2174443"/>
            <a:ext cx="351130" cy="351130"/>
          </a:xfrm>
          <a:prstGeom prst="rect">
            <a:avLst/>
          </a:prstGeom>
        </p:spPr>
      </p:pic>
      <p:sp>
        <p:nvSpPr>
          <p:cNvPr id="7" name="g1_num"/>
          <p:cNvSpPr txBox="1"/>
          <p:nvPr/>
        </p:nvSpPr>
        <p:spPr>
          <a:xfrm>
            <a:off x="6551676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01</a:t>
            </a:r>
            <a:endParaRPr lang="en-US" sz="3600" dirty="0"/>
          </a:p>
        </p:txBody>
      </p:sp>
      <p:sp>
        <p:nvSpPr>
          <p:cNvPr id="8" name="g1_text"/>
          <p:cNvSpPr txBox="1"/>
          <p:nvPr/>
        </p:nvSpPr>
        <p:spPr>
          <a:xfrm>
            <a:off x="6551676" y="27889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فصل مسارات المشاة عن مسارات المركبات باستخدام حواجز أو إشارات أرضية واضحة.</a:t>
            </a:r>
            <a:endParaRPr lang="ar-SA" sz="1700" dirty="0"/>
          </a:p>
        </p:txBody>
      </p:sp>
      <p:sp>
        <p:nvSpPr>
          <p:cNvPr id="9" name="g2_card"/>
          <p:cNvSpPr/>
          <p:nvPr/>
        </p:nvSpPr>
        <p:spPr>
          <a:xfrm>
            <a:off x="548640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g2_circle"/>
          <p:cNvSpPr/>
          <p:nvPr/>
        </p:nvSpPr>
        <p:spPr>
          <a:xfrm>
            <a:off x="4905756" y="1984248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1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951" y="2174443"/>
            <a:ext cx="351130" cy="351130"/>
          </a:xfrm>
          <a:prstGeom prst="rect">
            <a:avLst/>
          </a:prstGeom>
        </p:spPr>
      </p:pic>
      <p:sp>
        <p:nvSpPr>
          <p:cNvPr id="12" name="g2_num"/>
          <p:cNvSpPr txBox="1"/>
          <p:nvPr/>
        </p:nvSpPr>
        <p:spPr>
          <a:xfrm>
            <a:off x="86868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02</a:t>
            </a:r>
            <a:endParaRPr lang="en-US" sz="3600" dirty="0"/>
          </a:p>
        </p:txBody>
      </p:sp>
      <p:sp>
        <p:nvSpPr>
          <p:cNvPr id="13" name="g2_text"/>
          <p:cNvSpPr txBox="1"/>
          <p:nvPr/>
        </p:nvSpPr>
        <p:spPr>
          <a:xfrm>
            <a:off x="868680" y="27889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تحديد مناطق التحميل والتفريغ بعلامات مرئية ومضاءة.</a:t>
            </a:r>
            <a:endParaRPr lang="ar-SA" sz="1700" dirty="0"/>
          </a:p>
        </p:txBody>
      </p:sp>
      <p:sp>
        <p:nvSpPr>
          <p:cNvPr id="14" name="g3_card"/>
          <p:cNvSpPr/>
          <p:nvPr/>
        </p:nvSpPr>
        <p:spPr>
          <a:xfrm>
            <a:off x="6231636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g3_circle"/>
          <p:cNvSpPr/>
          <p:nvPr/>
        </p:nvSpPr>
        <p:spPr>
          <a:xfrm>
            <a:off x="10588752" y="4361688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6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947" y="4551883"/>
            <a:ext cx="351130" cy="351130"/>
          </a:xfrm>
          <a:prstGeom prst="rect">
            <a:avLst/>
          </a:prstGeom>
        </p:spPr>
      </p:pic>
      <p:sp>
        <p:nvSpPr>
          <p:cNvPr id="17" name="g3_num"/>
          <p:cNvSpPr txBox="1"/>
          <p:nvPr/>
        </p:nvSpPr>
        <p:spPr>
          <a:xfrm>
            <a:off x="6551676" y="4343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03</a:t>
            </a:r>
            <a:endParaRPr lang="en-US" sz="3600" dirty="0"/>
          </a:p>
        </p:txBody>
      </p:sp>
      <p:sp>
        <p:nvSpPr>
          <p:cNvPr id="18" name="g3_text"/>
          <p:cNvSpPr txBox="1"/>
          <p:nvPr/>
        </p:nvSpPr>
        <p:spPr>
          <a:xfrm>
            <a:off x="6551676" y="516636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تنظيم حركة الدخول والخروج من الموقع لتقليل التداخل.</a:t>
            </a:r>
            <a:endParaRPr lang="ar-SA" sz="1700" dirty="0"/>
          </a:p>
        </p:txBody>
      </p:sp>
      <p:sp>
        <p:nvSpPr>
          <p:cNvPr id="19" name="g4_card"/>
          <p:cNvSpPr/>
          <p:nvPr/>
        </p:nvSpPr>
        <p:spPr>
          <a:xfrm>
            <a:off x="548640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g4_circle"/>
          <p:cNvSpPr/>
          <p:nvPr/>
        </p:nvSpPr>
        <p:spPr>
          <a:xfrm>
            <a:off x="4905756" y="4361688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1" name="g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951" y="4551883"/>
            <a:ext cx="351130" cy="351130"/>
          </a:xfrm>
          <a:prstGeom prst="rect">
            <a:avLst/>
          </a:prstGeom>
        </p:spPr>
      </p:pic>
      <p:sp>
        <p:nvSpPr>
          <p:cNvPr id="22" name="g4_num"/>
          <p:cNvSpPr txBox="1"/>
          <p:nvPr/>
        </p:nvSpPr>
        <p:spPr>
          <a:xfrm>
            <a:off x="868680" y="4343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04</a:t>
            </a:r>
            <a:endParaRPr lang="en-US" sz="3600" dirty="0"/>
          </a:p>
        </p:txBody>
      </p:sp>
      <p:sp>
        <p:nvSpPr>
          <p:cNvPr id="23" name="g4_text"/>
          <p:cNvSpPr txBox="1"/>
          <p:nvPr/>
        </p:nvSpPr>
        <p:spPr>
          <a:xfrm>
            <a:off x="868680" y="516636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استخدام لافتات تحذيرية وحدود سرعة مناسبة لطبيعة المكان.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50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400"/>
                            </p:stCondLst>
                            <p:childTnLst>
                              <p:par>
                                <p:cTn id="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المركبات · ثالثًا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إدارة المركبات والمعدات</a:t>
            </a:r>
            <a:endParaRPr lang="en-US" sz="3400" dirty="0"/>
          </a:p>
        </p:txBody>
      </p:sp>
      <p:sp>
        <p:nvSpPr>
          <p:cNvPr id="4" name="g1_hub"/>
          <p:cNvSpPr/>
          <p:nvPr/>
        </p:nvSpPr>
        <p:spPr>
          <a:xfrm>
            <a:off x="4815688" y="2651760"/>
            <a:ext cx="2560320" cy="2560320"/>
          </a:xfrm>
          <a:prstGeom prst="ellipse">
            <a:avLst/>
          </a:prstGeom>
          <a:solidFill>
            <a:schemeClr val="tx2"/>
          </a:solidFill>
          <a:ln w="50800">
            <a:solidFill>
              <a:srgbClr val="F2A900"/>
            </a:solidFill>
            <a:prstDash val="solid"/>
          </a:ln>
        </p:spPr>
      </p:sp>
      <p:pic>
        <p:nvPicPr>
          <p:cNvPr id="5" name="g1_hub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48" y="3246120"/>
            <a:ext cx="1371600" cy="1371600"/>
          </a:xfrm>
          <a:prstGeom prst="rect">
            <a:avLst/>
          </a:prstGeom>
        </p:spPr>
      </p:pic>
      <p:sp>
        <p:nvSpPr>
          <p:cNvPr id="6" name="g2_card"/>
          <p:cNvSpPr/>
          <p:nvPr/>
        </p:nvSpPr>
        <p:spPr>
          <a:xfrm>
            <a:off x="7571232" y="1691640"/>
            <a:ext cx="40690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g2_circle"/>
          <p:cNvSpPr/>
          <p:nvPr/>
        </p:nvSpPr>
        <p:spPr>
          <a:xfrm>
            <a:off x="10799064" y="1947672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8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465" y="2095073"/>
            <a:ext cx="272125" cy="272125"/>
          </a:xfrm>
          <a:prstGeom prst="rect">
            <a:avLst/>
          </a:prstGeom>
        </p:spPr>
      </p:pic>
      <p:sp>
        <p:nvSpPr>
          <p:cNvPr id="9" name="g2_h"/>
          <p:cNvSpPr txBox="1"/>
          <p:nvPr/>
        </p:nvSpPr>
        <p:spPr>
          <a:xfrm>
            <a:off x="7845552" y="19476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الاختيار المناسب</a:t>
            </a:r>
            <a:endParaRPr lang="ar-SA" sz="1900" dirty="0"/>
          </a:p>
        </p:txBody>
      </p:sp>
      <p:sp>
        <p:nvSpPr>
          <p:cNvPr id="10" name="g2_t"/>
          <p:cNvSpPr txBox="1"/>
          <p:nvPr/>
        </p:nvSpPr>
        <p:spPr>
          <a:xfrm>
            <a:off x="7845552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اختيار المركبات المناسبة لطبيعة العمل والبيئة.</a:t>
            </a:r>
            <a:endParaRPr lang="ar-SA" sz="1500" dirty="0"/>
          </a:p>
        </p:txBody>
      </p:sp>
      <p:sp>
        <p:nvSpPr>
          <p:cNvPr id="11" name="g3_card"/>
          <p:cNvSpPr/>
          <p:nvPr/>
        </p:nvSpPr>
        <p:spPr>
          <a:xfrm>
            <a:off x="548640" y="1691640"/>
            <a:ext cx="40690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g3_circle"/>
          <p:cNvSpPr/>
          <p:nvPr/>
        </p:nvSpPr>
        <p:spPr>
          <a:xfrm>
            <a:off x="3776472" y="1947672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3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873" y="2095073"/>
            <a:ext cx="272125" cy="272125"/>
          </a:xfrm>
          <a:prstGeom prst="rect">
            <a:avLst/>
          </a:prstGeom>
        </p:spPr>
      </p:pic>
      <p:sp>
        <p:nvSpPr>
          <p:cNvPr id="14" name="g3_h"/>
          <p:cNvSpPr txBox="1"/>
          <p:nvPr/>
        </p:nvSpPr>
        <p:spPr>
          <a:xfrm>
            <a:off x="822960" y="19476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الصيانة الدورية</a:t>
            </a:r>
            <a:endParaRPr lang="ar-SA" sz="1900" dirty="0"/>
          </a:p>
        </p:txBody>
      </p:sp>
      <p:sp>
        <p:nvSpPr>
          <p:cNvPr id="15" name="g3_t"/>
          <p:cNvSpPr txBox="1"/>
          <p:nvPr/>
        </p:nvSpPr>
        <p:spPr>
          <a:xfrm>
            <a:off x="822960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صيانة المركبات بانتظام وفق جداول معتمدة.</a:t>
            </a:r>
            <a:endParaRPr lang="ar-SA" sz="1500" dirty="0"/>
          </a:p>
        </p:txBody>
      </p:sp>
      <p:sp>
        <p:nvSpPr>
          <p:cNvPr id="16" name="g4_card"/>
          <p:cNvSpPr/>
          <p:nvPr/>
        </p:nvSpPr>
        <p:spPr>
          <a:xfrm>
            <a:off x="7571232" y="4069080"/>
            <a:ext cx="40690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g4_circle"/>
          <p:cNvSpPr/>
          <p:nvPr/>
        </p:nvSpPr>
        <p:spPr>
          <a:xfrm>
            <a:off x="10799064" y="4325112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8" name="g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6465" y="4472513"/>
            <a:ext cx="272125" cy="272125"/>
          </a:xfrm>
          <a:prstGeom prst="rect">
            <a:avLst/>
          </a:prstGeom>
        </p:spPr>
      </p:pic>
      <p:sp>
        <p:nvSpPr>
          <p:cNvPr id="19" name="g4_h"/>
          <p:cNvSpPr txBox="1"/>
          <p:nvPr/>
        </p:nvSpPr>
        <p:spPr>
          <a:xfrm>
            <a:off x="7845552" y="432511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وسائل الأمان</a:t>
            </a:r>
            <a:endParaRPr lang="ar-SA" sz="1900" dirty="0"/>
          </a:p>
        </p:txBody>
      </p:sp>
      <p:sp>
        <p:nvSpPr>
          <p:cNvPr id="20" name="g4_t"/>
          <p:cNvSpPr txBox="1"/>
          <p:nvPr/>
        </p:nvSpPr>
        <p:spPr>
          <a:xfrm>
            <a:off x="7845552" y="50292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تركيب المرايا، الكاميرات، الإنذارات الصوتية، وأجهزة كشف الاصطدام.</a:t>
            </a:r>
            <a:endParaRPr lang="ar-SA" sz="1500" dirty="0"/>
          </a:p>
        </p:txBody>
      </p:sp>
      <p:sp>
        <p:nvSpPr>
          <p:cNvPr id="21" name="g5_card"/>
          <p:cNvSpPr/>
          <p:nvPr/>
        </p:nvSpPr>
        <p:spPr>
          <a:xfrm>
            <a:off x="548640" y="4069080"/>
            <a:ext cx="40690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g5_circle"/>
          <p:cNvSpPr/>
          <p:nvPr/>
        </p:nvSpPr>
        <p:spPr>
          <a:xfrm>
            <a:off x="3776472" y="4325112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3" name="g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873" y="4472513"/>
            <a:ext cx="272125" cy="272125"/>
          </a:xfrm>
          <a:prstGeom prst="rect">
            <a:avLst/>
          </a:prstGeom>
        </p:spPr>
      </p:pic>
      <p:sp>
        <p:nvSpPr>
          <p:cNvPr id="24" name="g5_h"/>
          <p:cNvSpPr txBox="1"/>
          <p:nvPr/>
        </p:nvSpPr>
        <p:spPr>
          <a:xfrm>
            <a:off x="822960" y="432511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الفحص المستمر</a:t>
            </a:r>
            <a:endParaRPr lang="ar-SA" sz="1900" dirty="0"/>
          </a:p>
        </p:txBody>
      </p:sp>
      <p:sp>
        <p:nvSpPr>
          <p:cNvPr id="25" name="g5_t"/>
          <p:cNvSpPr txBox="1"/>
          <p:nvPr/>
        </p:nvSpPr>
        <p:spPr>
          <a:xfrm>
            <a:off x="822960" y="50292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التأكد من صلاحية المكابح، الإطارات، وأنظمة الإضاءة.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5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4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75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المركبات · رابعًا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إدارة الأشخاص والسلوك الآمن</a:t>
            </a:r>
            <a:endParaRPr lang="en-US" sz="3400" dirty="0"/>
          </a:p>
        </p:txBody>
      </p:sp>
      <p:sp>
        <p:nvSpPr>
          <p:cNvPr id="4" name="g1_card"/>
          <p:cNvSpPr/>
          <p:nvPr/>
        </p:nvSpPr>
        <p:spPr>
          <a:xfrm>
            <a:off x="548640" y="169164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g1_n"/>
          <p:cNvSpPr txBox="1"/>
          <p:nvPr/>
        </p:nvSpPr>
        <p:spPr>
          <a:xfrm>
            <a:off x="1051560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g1_t"/>
          <p:cNvSpPr txBox="1"/>
          <p:nvPr/>
        </p:nvSpPr>
        <p:spPr>
          <a:xfrm>
            <a:off x="1828800" y="16916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تدريب السائقين والمشاة على قواعد الحركة داخل الموقع.</a:t>
            </a:r>
            <a:endParaRPr lang="ar-SA" sz="1800" dirty="0"/>
          </a:p>
        </p:txBody>
      </p:sp>
      <p:sp>
        <p:nvSpPr>
          <p:cNvPr id="7" name="g1_circle"/>
          <p:cNvSpPr/>
          <p:nvPr/>
        </p:nvSpPr>
        <p:spPr>
          <a:xfrm>
            <a:off x="777240" y="1847088"/>
            <a:ext cx="603504" cy="603504"/>
          </a:xfrm>
          <a:prstGeom prst="ellipse">
            <a:avLst/>
          </a:prstGeom>
          <a:solidFill>
            <a:srgbClr val="F3F5F9"/>
          </a:solidFill>
          <a:ln/>
        </p:spPr>
      </p:sp>
      <p:pic>
        <p:nvPicPr>
          <p:cNvPr id="8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011" y="1979859"/>
            <a:ext cx="337962" cy="337962"/>
          </a:xfrm>
          <a:prstGeom prst="rect">
            <a:avLst/>
          </a:prstGeom>
        </p:spPr>
      </p:pic>
      <p:sp>
        <p:nvSpPr>
          <p:cNvPr id="9" name="g2_card"/>
          <p:cNvSpPr/>
          <p:nvPr/>
        </p:nvSpPr>
        <p:spPr>
          <a:xfrm>
            <a:off x="548640" y="288036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g2_n"/>
          <p:cNvSpPr txBox="1"/>
          <p:nvPr/>
        </p:nvSpPr>
        <p:spPr>
          <a:xfrm>
            <a:off x="1051560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sp>
        <p:nvSpPr>
          <p:cNvPr id="11" name="g2_t"/>
          <p:cNvSpPr txBox="1"/>
          <p:nvPr/>
        </p:nvSpPr>
        <p:spPr>
          <a:xfrm>
            <a:off x="1828800" y="28803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منح تصاريح قيادة خاصة للمعدات الثقيلة أو المتحركة.</a:t>
            </a:r>
            <a:endParaRPr lang="ar-SA" sz="1800" dirty="0"/>
          </a:p>
        </p:txBody>
      </p:sp>
      <p:sp>
        <p:nvSpPr>
          <p:cNvPr id="12" name="g2_circle"/>
          <p:cNvSpPr/>
          <p:nvPr/>
        </p:nvSpPr>
        <p:spPr>
          <a:xfrm>
            <a:off x="777240" y="3035808"/>
            <a:ext cx="603504" cy="603504"/>
          </a:xfrm>
          <a:prstGeom prst="ellipse">
            <a:avLst/>
          </a:prstGeom>
          <a:solidFill>
            <a:srgbClr val="F3F5F9"/>
          </a:solidFill>
          <a:ln/>
        </p:spPr>
      </p:sp>
      <p:pic>
        <p:nvPicPr>
          <p:cNvPr id="13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11" y="3168579"/>
            <a:ext cx="337962" cy="337962"/>
          </a:xfrm>
          <a:prstGeom prst="rect">
            <a:avLst/>
          </a:prstGeom>
        </p:spPr>
      </p:pic>
      <p:sp>
        <p:nvSpPr>
          <p:cNvPr id="14" name="g3_card"/>
          <p:cNvSpPr/>
          <p:nvPr/>
        </p:nvSpPr>
        <p:spPr>
          <a:xfrm>
            <a:off x="548640" y="406908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g3_n"/>
          <p:cNvSpPr txBox="1"/>
          <p:nvPr/>
        </p:nvSpPr>
        <p:spPr>
          <a:xfrm>
            <a:off x="10515600" y="4069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sp>
        <p:nvSpPr>
          <p:cNvPr id="16" name="g3_t"/>
          <p:cNvSpPr txBox="1"/>
          <p:nvPr/>
        </p:nvSpPr>
        <p:spPr>
          <a:xfrm>
            <a:off x="1828800" y="40690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إلزام الجميع بارتداء ملابس عاكسة للرؤية العالية.</a:t>
            </a:r>
            <a:endParaRPr lang="ar-SA" sz="1800" dirty="0"/>
          </a:p>
        </p:txBody>
      </p:sp>
      <p:sp>
        <p:nvSpPr>
          <p:cNvPr id="17" name="g3_circle"/>
          <p:cNvSpPr/>
          <p:nvPr/>
        </p:nvSpPr>
        <p:spPr>
          <a:xfrm>
            <a:off x="777240" y="4224528"/>
            <a:ext cx="603504" cy="603504"/>
          </a:xfrm>
          <a:prstGeom prst="ellipse">
            <a:avLst/>
          </a:prstGeom>
          <a:solidFill>
            <a:srgbClr val="F3F5F9"/>
          </a:solidFill>
          <a:ln/>
        </p:spPr>
      </p:sp>
      <p:pic>
        <p:nvPicPr>
          <p:cNvPr id="18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11" y="4357299"/>
            <a:ext cx="337962" cy="337962"/>
          </a:xfrm>
          <a:prstGeom prst="rect">
            <a:avLst/>
          </a:prstGeom>
        </p:spPr>
      </p:pic>
      <p:sp>
        <p:nvSpPr>
          <p:cNvPr id="19" name="g4_card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g4_n"/>
          <p:cNvSpPr txBox="1"/>
          <p:nvPr/>
        </p:nvSpPr>
        <p:spPr>
          <a:xfrm>
            <a:off x="10515600" y="5257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04</a:t>
            </a:r>
            <a:endParaRPr lang="en-US" sz="3000" dirty="0"/>
          </a:p>
        </p:txBody>
      </p:sp>
      <p:sp>
        <p:nvSpPr>
          <p:cNvPr id="21" name="g4_t"/>
          <p:cNvSpPr txBox="1"/>
          <p:nvPr/>
        </p:nvSpPr>
        <p:spPr>
          <a:xfrm>
            <a:off x="1828800" y="5257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تعزيز ثقافة الإبلاغ عن المخاطر والحوادث دون خوف من العقوبة.</a:t>
            </a:r>
            <a:endParaRPr lang="ar-SA" sz="1800" dirty="0"/>
          </a:p>
        </p:txBody>
      </p:sp>
      <p:sp>
        <p:nvSpPr>
          <p:cNvPr id="22" name="g4_circle"/>
          <p:cNvSpPr/>
          <p:nvPr/>
        </p:nvSpPr>
        <p:spPr>
          <a:xfrm>
            <a:off x="777240" y="5413248"/>
            <a:ext cx="603504" cy="603504"/>
          </a:xfrm>
          <a:prstGeom prst="ellipse">
            <a:avLst/>
          </a:prstGeom>
          <a:solidFill>
            <a:srgbClr val="F3F5F9"/>
          </a:solidFill>
          <a:ln/>
        </p:spPr>
      </p:sp>
      <p:pic>
        <p:nvPicPr>
          <p:cNvPr id="23" name="g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11" y="5546019"/>
            <a:ext cx="337962" cy="3379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50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400"/>
                            </p:stCondLst>
                            <p:childTnLst>
                              <p:par>
                                <p:cTn id="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المركبات · خامسًا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التحكم في السرعة والمراقبة</a:t>
            </a:r>
            <a:endParaRPr lang="en-US" sz="3400" dirty="0"/>
          </a:p>
        </p:txBody>
      </p:sp>
      <p:sp>
        <p:nvSpPr>
          <p:cNvPr id="4" name="g1_chev"/>
          <p:cNvSpPr/>
          <p:nvPr/>
        </p:nvSpPr>
        <p:spPr>
          <a:xfrm flipH="1">
            <a:off x="9052560" y="1783080"/>
            <a:ext cx="2587752" cy="77724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5" name="g1_lbl"/>
          <p:cNvSpPr txBox="1"/>
          <p:nvPr/>
        </p:nvSpPr>
        <p:spPr>
          <a:xfrm>
            <a:off x="9372600" y="178308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1. تحديد</a:t>
            </a:r>
            <a:endParaRPr lang="ar-SA" sz="1800" dirty="0"/>
          </a:p>
        </p:txBody>
      </p:sp>
      <p:sp>
        <p:nvSpPr>
          <p:cNvPr id="6" name="g1_card"/>
          <p:cNvSpPr/>
          <p:nvPr/>
        </p:nvSpPr>
        <p:spPr>
          <a:xfrm>
            <a:off x="9098280" y="2880360"/>
            <a:ext cx="2496312" cy="3291840"/>
          </a:xfrm>
          <a:prstGeom prst="roundRect">
            <a:avLst>
              <a:gd name="adj" fmla="val 439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g1_circle"/>
          <p:cNvSpPr/>
          <p:nvPr/>
        </p:nvSpPr>
        <p:spPr>
          <a:xfrm>
            <a:off x="9889236" y="3154680"/>
            <a:ext cx="914400" cy="9144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8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3392424"/>
            <a:ext cx="438912" cy="438912"/>
          </a:xfrm>
          <a:prstGeom prst="rect">
            <a:avLst/>
          </a:prstGeom>
        </p:spPr>
      </p:pic>
      <p:sp>
        <p:nvSpPr>
          <p:cNvPr id="9" name="g1_t"/>
          <p:cNvSpPr txBox="1"/>
          <p:nvPr/>
        </p:nvSpPr>
        <p:spPr>
          <a:xfrm>
            <a:off x="9326880" y="43434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وضع حدود سرعة محددة بوضوح في كل منطقة.</a:t>
            </a:r>
            <a:endParaRPr lang="ar-SA" sz="1800" dirty="0"/>
          </a:p>
        </p:txBody>
      </p:sp>
      <p:sp>
        <p:nvSpPr>
          <p:cNvPr id="10" name="g2_chev"/>
          <p:cNvSpPr/>
          <p:nvPr/>
        </p:nvSpPr>
        <p:spPr>
          <a:xfrm flipH="1">
            <a:off x="6217920" y="1783080"/>
            <a:ext cx="2587752" cy="77724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1" name="g2_lbl"/>
          <p:cNvSpPr txBox="1"/>
          <p:nvPr/>
        </p:nvSpPr>
        <p:spPr>
          <a:xfrm>
            <a:off x="6537960" y="178308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2. تهدئة</a:t>
            </a:r>
            <a:endParaRPr lang="ar-SA" sz="1800" dirty="0"/>
          </a:p>
        </p:txBody>
      </p:sp>
      <p:sp>
        <p:nvSpPr>
          <p:cNvPr id="12" name="g2_card"/>
          <p:cNvSpPr/>
          <p:nvPr/>
        </p:nvSpPr>
        <p:spPr>
          <a:xfrm>
            <a:off x="6263640" y="2880360"/>
            <a:ext cx="2496312" cy="3291840"/>
          </a:xfrm>
          <a:prstGeom prst="roundRect">
            <a:avLst>
              <a:gd name="adj" fmla="val 439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g2_circle"/>
          <p:cNvSpPr/>
          <p:nvPr/>
        </p:nvSpPr>
        <p:spPr>
          <a:xfrm>
            <a:off x="7054596" y="3154680"/>
            <a:ext cx="914400" cy="9144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4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40" y="3392424"/>
            <a:ext cx="438912" cy="438912"/>
          </a:xfrm>
          <a:prstGeom prst="rect">
            <a:avLst/>
          </a:prstGeom>
        </p:spPr>
      </p:pic>
      <p:sp>
        <p:nvSpPr>
          <p:cNvPr id="15" name="g2_t"/>
          <p:cNvSpPr txBox="1"/>
          <p:nvPr/>
        </p:nvSpPr>
        <p:spPr>
          <a:xfrm>
            <a:off x="6492240" y="43434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استخدام مطبات أو أجهزة مراقبة السرعة عند المداخل والمخارج.</a:t>
            </a:r>
            <a:endParaRPr lang="ar-SA" sz="1800" dirty="0"/>
          </a:p>
        </p:txBody>
      </p:sp>
      <p:sp>
        <p:nvSpPr>
          <p:cNvPr id="16" name="g3_chev"/>
          <p:cNvSpPr/>
          <p:nvPr/>
        </p:nvSpPr>
        <p:spPr>
          <a:xfrm flipH="1">
            <a:off x="3383280" y="1783080"/>
            <a:ext cx="2587752" cy="77724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7" name="g3_lbl"/>
          <p:cNvSpPr txBox="1"/>
          <p:nvPr/>
        </p:nvSpPr>
        <p:spPr>
          <a:xfrm>
            <a:off x="3703320" y="178308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3. مراقبة</a:t>
            </a:r>
            <a:endParaRPr lang="ar-SA" sz="1800" dirty="0"/>
          </a:p>
        </p:txBody>
      </p:sp>
      <p:sp>
        <p:nvSpPr>
          <p:cNvPr id="18" name="g3_card"/>
          <p:cNvSpPr/>
          <p:nvPr/>
        </p:nvSpPr>
        <p:spPr>
          <a:xfrm>
            <a:off x="3429000" y="2880360"/>
            <a:ext cx="2496312" cy="3291840"/>
          </a:xfrm>
          <a:prstGeom prst="roundRect">
            <a:avLst>
              <a:gd name="adj" fmla="val 439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9" name="g3_circle"/>
          <p:cNvSpPr/>
          <p:nvPr/>
        </p:nvSpPr>
        <p:spPr>
          <a:xfrm>
            <a:off x="4219956" y="3154680"/>
            <a:ext cx="914400" cy="9144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0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3392424"/>
            <a:ext cx="438912" cy="438912"/>
          </a:xfrm>
          <a:prstGeom prst="rect">
            <a:avLst/>
          </a:prstGeom>
        </p:spPr>
      </p:pic>
      <p:sp>
        <p:nvSpPr>
          <p:cNvPr id="21" name="g3_t"/>
          <p:cNvSpPr txBox="1"/>
          <p:nvPr/>
        </p:nvSpPr>
        <p:spPr>
          <a:xfrm>
            <a:off x="3657600" y="43434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مراقبة الامتثال بواسطة مشرفين أو أنظمة رقمية.</a:t>
            </a:r>
            <a:endParaRPr lang="ar-SA" sz="1800" dirty="0"/>
          </a:p>
        </p:txBody>
      </p:sp>
      <p:sp>
        <p:nvSpPr>
          <p:cNvPr id="22" name="g4_chev"/>
          <p:cNvSpPr/>
          <p:nvPr/>
        </p:nvSpPr>
        <p:spPr>
          <a:xfrm flipH="1">
            <a:off x="548640" y="1783080"/>
            <a:ext cx="2587752" cy="77724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3" name="g4_lbl"/>
          <p:cNvSpPr txBox="1"/>
          <p:nvPr/>
        </p:nvSpPr>
        <p:spPr>
          <a:xfrm>
            <a:off x="868680" y="178308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4. تصحيح</a:t>
            </a:r>
            <a:endParaRPr lang="ar-SA" sz="1800" dirty="0"/>
          </a:p>
        </p:txBody>
      </p:sp>
      <p:sp>
        <p:nvSpPr>
          <p:cNvPr id="24" name="g4_card"/>
          <p:cNvSpPr/>
          <p:nvPr/>
        </p:nvSpPr>
        <p:spPr>
          <a:xfrm>
            <a:off x="594360" y="2880360"/>
            <a:ext cx="2496312" cy="3291840"/>
          </a:xfrm>
          <a:prstGeom prst="roundRect">
            <a:avLst>
              <a:gd name="adj" fmla="val 439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g4_circle"/>
          <p:cNvSpPr/>
          <p:nvPr/>
        </p:nvSpPr>
        <p:spPr>
          <a:xfrm>
            <a:off x="1385316" y="3154680"/>
            <a:ext cx="914400" cy="9144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6" name="g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060" y="3392424"/>
            <a:ext cx="438912" cy="438912"/>
          </a:xfrm>
          <a:prstGeom prst="rect">
            <a:avLst/>
          </a:prstGeom>
        </p:spPr>
      </p:pic>
      <p:sp>
        <p:nvSpPr>
          <p:cNvPr id="27" name="g4_t"/>
          <p:cNvSpPr txBox="1"/>
          <p:nvPr/>
        </p:nvSpPr>
        <p:spPr>
          <a:xfrm>
            <a:off x="822960" y="43434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اتخاذ إجراءات تصحيحية عند تكرار المخالفات.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5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4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المركبات · سادسًا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الاستجابة للطوارئ والتحسين المستمر</a:t>
            </a:r>
            <a:endParaRPr lang="en-US" sz="3400" dirty="0"/>
          </a:p>
        </p:txBody>
      </p:sp>
      <p:sp>
        <p:nvSpPr>
          <p:cNvPr id="4" name="g1_card"/>
          <p:cNvSpPr/>
          <p:nvPr/>
        </p:nvSpPr>
        <p:spPr>
          <a:xfrm>
            <a:off x="5788152" y="1691640"/>
            <a:ext cx="5852160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g1_circle"/>
          <p:cNvSpPr/>
          <p:nvPr/>
        </p:nvSpPr>
        <p:spPr>
          <a:xfrm>
            <a:off x="10872216" y="1828800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9617" y="1976201"/>
            <a:ext cx="272125" cy="272125"/>
          </a:xfrm>
          <a:prstGeom prst="rect">
            <a:avLst/>
          </a:prstGeom>
        </p:spPr>
      </p:pic>
      <p:sp>
        <p:nvSpPr>
          <p:cNvPr id="7" name="g1_text"/>
          <p:cNvSpPr txBox="1"/>
          <p:nvPr/>
        </p:nvSpPr>
        <p:spPr>
          <a:xfrm>
            <a:off x="6062472" y="1691640"/>
            <a:ext cx="4553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وضع خطة طوارئ تشمل الإسعاف، الإخلاء، والتواصل الفوري.</a:t>
            </a:r>
            <a:endParaRPr lang="ar-SA" sz="1600" dirty="0"/>
          </a:p>
        </p:txBody>
      </p:sp>
      <p:sp>
        <p:nvSpPr>
          <p:cNvPr id="8" name="g2_card"/>
          <p:cNvSpPr/>
          <p:nvPr/>
        </p:nvSpPr>
        <p:spPr>
          <a:xfrm>
            <a:off x="5788152" y="2715768"/>
            <a:ext cx="5852160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g2_circle"/>
          <p:cNvSpPr/>
          <p:nvPr/>
        </p:nvSpPr>
        <p:spPr>
          <a:xfrm>
            <a:off x="10872216" y="2852928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0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9617" y="3000329"/>
            <a:ext cx="272125" cy="272125"/>
          </a:xfrm>
          <a:prstGeom prst="rect">
            <a:avLst/>
          </a:prstGeom>
        </p:spPr>
      </p:pic>
      <p:sp>
        <p:nvSpPr>
          <p:cNvPr id="11" name="g2_text"/>
          <p:cNvSpPr txBox="1"/>
          <p:nvPr/>
        </p:nvSpPr>
        <p:spPr>
          <a:xfrm>
            <a:off x="6062472" y="2715768"/>
            <a:ext cx="4553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التحقيق في جميع الحوادث وشبه الحوادث لتحديد الأسباب الجذرية.</a:t>
            </a:r>
            <a:endParaRPr lang="ar-SA" sz="1600" dirty="0"/>
          </a:p>
        </p:txBody>
      </p:sp>
      <p:sp>
        <p:nvSpPr>
          <p:cNvPr id="12" name="g3_card"/>
          <p:cNvSpPr/>
          <p:nvPr/>
        </p:nvSpPr>
        <p:spPr>
          <a:xfrm>
            <a:off x="5788152" y="3739896"/>
            <a:ext cx="5852160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g3_circle"/>
          <p:cNvSpPr/>
          <p:nvPr/>
        </p:nvSpPr>
        <p:spPr>
          <a:xfrm>
            <a:off x="10872216" y="3877056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4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617" y="4024457"/>
            <a:ext cx="272125" cy="272125"/>
          </a:xfrm>
          <a:prstGeom prst="rect">
            <a:avLst/>
          </a:prstGeom>
        </p:spPr>
      </p:pic>
      <p:sp>
        <p:nvSpPr>
          <p:cNvPr id="15" name="g3_text"/>
          <p:cNvSpPr txBox="1"/>
          <p:nvPr/>
        </p:nvSpPr>
        <p:spPr>
          <a:xfrm>
            <a:off x="6062472" y="3739896"/>
            <a:ext cx="4553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مراجعة الإجراءات بشكل دوري لتحسين الأداء.</a:t>
            </a:r>
            <a:endParaRPr lang="ar-SA" sz="1600" dirty="0"/>
          </a:p>
        </p:txBody>
      </p:sp>
      <p:sp>
        <p:nvSpPr>
          <p:cNvPr id="16" name="g4_note"/>
          <p:cNvSpPr txBox="1"/>
          <p:nvPr/>
        </p:nvSpPr>
        <p:spPr>
          <a:xfrm>
            <a:off x="5788152" y="48463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اتباع منهج PDCA كما توصي به IOSH لضمان التحسين المستمر.</a:t>
            </a:r>
            <a:endParaRPr lang="ar-SA" sz="1600" dirty="0"/>
          </a:p>
        </p:txBody>
      </p:sp>
      <p:sp>
        <p:nvSpPr>
          <p:cNvPr id="17" name="g5_q"/>
          <p:cNvSpPr/>
          <p:nvPr/>
        </p:nvSpPr>
        <p:spPr>
          <a:xfrm>
            <a:off x="548640" y="1691640"/>
            <a:ext cx="2468880" cy="2148840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/>
        </p:spPr>
      </p:sp>
      <p:sp>
        <p:nvSpPr>
          <p:cNvPr id="18" name="g5_e"/>
          <p:cNvSpPr txBox="1"/>
          <p:nvPr/>
        </p:nvSpPr>
        <p:spPr>
          <a:xfrm>
            <a:off x="777240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Plan</a:t>
            </a:r>
            <a:endParaRPr lang="en-US" sz="2200" dirty="0"/>
          </a:p>
        </p:txBody>
      </p:sp>
      <p:sp>
        <p:nvSpPr>
          <p:cNvPr id="19" name="g5_a"/>
          <p:cNvSpPr txBox="1"/>
          <p:nvPr/>
        </p:nvSpPr>
        <p:spPr>
          <a:xfrm>
            <a:off x="7772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التخطيط</a:t>
            </a:r>
            <a:endParaRPr lang="ar-SA" sz="1600" dirty="0"/>
          </a:p>
        </p:txBody>
      </p:sp>
      <p:sp>
        <p:nvSpPr>
          <p:cNvPr id="20" name="g6_q"/>
          <p:cNvSpPr/>
          <p:nvPr/>
        </p:nvSpPr>
        <p:spPr>
          <a:xfrm>
            <a:off x="3200400" y="1691640"/>
            <a:ext cx="2468880" cy="2148840"/>
          </a:xfrm>
          <a:prstGeom prst="roundRect">
            <a:avLst>
              <a:gd name="adj" fmla="val 6383"/>
            </a:avLst>
          </a:prstGeom>
          <a:solidFill>
            <a:schemeClr val="accent1"/>
          </a:solidFill>
          <a:ln/>
        </p:spPr>
      </p:sp>
      <p:sp>
        <p:nvSpPr>
          <p:cNvPr id="21" name="g6_e"/>
          <p:cNvSpPr txBox="1"/>
          <p:nvPr/>
        </p:nvSpPr>
        <p:spPr>
          <a:xfrm>
            <a:off x="3977640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Do</a:t>
            </a:r>
            <a:endParaRPr lang="en-US" sz="2200" dirty="0"/>
          </a:p>
        </p:txBody>
      </p:sp>
      <p:sp>
        <p:nvSpPr>
          <p:cNvPr id="22" name="g6_a"/>
          <p:cNvSpPr txBox="1"/>
          <p:nvPr/>
        </p:nvSpPr>
        <p:spPr>
          <a:xfrm>
            <a:off x="39776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التنفيذ</a:t>
            </a:r>
            <a:endParaRPr lang="ar-SA" sz="1600" dirty="0"/>
          </a:p>
        </p:txBody>
      </p:sp>
      <p:sp>
        <p:nvSpPr>
          <p:cNvPr id="23" name="g7_q"/>
          <p:cNvSpPr/>
          <p:nvPr/>
        </p:nvSpPr>
        <p:spPr>
          <a:xfrm>
            <a:off x="3200400" y="4023360"/>
            <a:ext cx="2468880" cy="2148840"/>
          </a:xfrm>
          <a:prstGeom prst="roundRect">
            <a:avLst>
              <a:gd name="adj" fmla="val 6383"/>
            </a:avLst>
          </a:prstGeom>
          <a:solidFill>
            <a:schemeClr val="accent2"/>
          </a:solidFill>
          <a:ln/>
        </p:spPr>
      </p:sp>
      <p:sp>
        <p:nvSpPr>
          <p:cNvPr id="24" name="g7_e"/>
          <p:cNvSpPr txBox="1"/>
          <p:nvPr/>
        </p:nvSpPr>
        <p:spPr>
          <a:xfrm>
            <a:off x="3977640" y="5120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Check</a:t>
            </a:r>
            <a:endParaRPr lang="en-US" sz="2200" dirty="0"/>
          </a:p>
        </p:txBody>
      </p:sp>
      <p:sp>
        <p:nvSpPr>
          <p:cNvPr id="25" name="g7_a"/>
          <p:cNvSpPr txBox="1"/>
          <p:nvPr/>
        </p:nvSpPr>
        <p:spPr>
          <a:xfrm>
            <a:off x="3977640" y="5532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التحقق</a:t>
            </a:r>
            <a:endParaRPr lang="ar-SA" sz="1600" dirty="0"/>
          </a:p>
        </p:txBody>
      </p:sp>
      <p:sp>
        <p:nvSpPr>
          <p:cNvPr id="26" name="g8_q"/>
          <p:cNvSpPr/>
          <p:nvPr/>
        </p:nvSpPr>
        <p:spPr>
          <a:xfrm>
            <a:off x="548640" y="4023360"/>
            <a:ext cx="2468880" cy="2148840"/>
          </a:xfrm>
          <a:prstGeom prst="roundRect">
            <a:avLst>
              <a:gd name="adj" fmla="val 6383"/>
            </a:avLst>
          </a:prstGeom>
          <a:solidFill>
            <a:schemeClr val="accent3"/>
          </a:solidFill>
          <a:ln/>
        </p:spPr>
      </p:sp>
      <p:sp>
        <p:nvSpPr>
          <p:cNvPr id="27" name="g8_e"/>
          <p:cNvSpPr txBox="1"/>
          <p:nvPr/>
        </p:nvSpPr>
        <p:spPr>
          <a:xfrm>
            <a:off x="777240" y="5120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Act</a:t>
            </a:r>
            <a:endParaRPr lang="en-US" sz="2200" dirty="0"/>
          </a:p>
        </p:txBody>
      </p:sp>
      <p:sp>
        <p:nvSpPr>
          <p:cNvPr id="28" name="g8_a"/>
          <p:cNvSpPr txBox="1"/>
          <p:nvPr/>
        </p:nvSpPr>
        <p:spPr>
          <a:xfrm>
            <a:off x="777240" y="5532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التحسين</a:t>
            </a:r>
            <a:endParaRPr lang="ar-SA" sz="1600" dirty="0"/>
          </a:p>
        </p:txBody>
      </p:sp>
      <p:sp>
        <p:nvSpPr>
          <p:cNvPr id="29" name="g9_c"/>
          <p:cNvSpPr/>
          <p:nvPr/>
        </p:nvSpPr>
        <p:spPr>
          <a:xfrm>
            <a:off x="2423160" y="3246120"/>
            <a:ext cx="1371600" cy="1371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B2545"/>
            </a:solidFill>
            <a:prstDash val="solid"/>
          </a:ln>
        </p:spPr>
      </p:sp>
      <p:pic>
        <p:nvPicPr>
          <p:cNvPr id="30" name="g9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56616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4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75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100"/>
                            </p:stCondLst>
                            <p:childTnLst>
                              <p:par>
                                <p:cTn id="10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450"/>
                            </p:stCondLst>
                            <p:childTnLst>
                              <p:par>
                                <p:cTn id="1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800"/>
                            </p:stCondLst>
                            <p:childTnLst>
                              <p:par>
                                <p:cTn id="1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3150"/>
                            </p:stCondLst>
                            <p:childTnLst>
                              <p:par>
                                <p:cTn id="1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206240" y="1828800"/>
            <a:ext cx="7434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المحور الثاني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206240" y="2331720"/>
            <a:ext cx="7434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سلامة الأشخاص</a:t>
            </a:r>
            <a:endParaRPr lang="en-US" sz="5000" dirty="0"/>
          </a:p>
        </p:txBody>
      </p:sp>
      <p:sp>
        <p:nvSpPr>
          <p:cNvPr id="4" name="g1_num"/>
          <p:cNvSpPr txBox="1"/>
          <p:nvPr/>
        </p:nvSpPr>
        <p:spPr>
          <a:xfrm>
            <a:off x="548640" y="8229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2"/>
                </a:solidFill>
              </a:rPr>
              <a:t>02</a:t>
            </a:r>
            <a:endParaRPr lang="en-US" sz="15000" dirty="0"/>
          </a:p>
        </p:txBody>
      </p:sp>
      <p:sp>
        <p:nvSpPr>
          <p:cNvPr id="5" name="g1_circle"/>
          <p:cNvSpPr/>
          <p:nvPr/>
        </p:nvSpPr>
        <p:spPr>
          <a:xfrm>
            <a:off x="685800" y="3246120"/>
            <a:ext cx="1463040" cy="146304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3626510"/>
            <a:ext cx="702259" cy="702259"/>
          </a:xfrm>
          <a:prstGeom prst="rect">
            <a:avLst/>
          </a:prstGeom>
        </p:spPr>
      </p:pic>
      <p:sp>
        <p:nvSpPr>
          <p:cNvPr id="7" name="g2_box"/>
          <p:cNvSpPr/>
          <p:nvPr/>
        </p:nvSpPr>
        <p:spPr>
          <a:xfrm>
            <a:off x="4206240" y="3520440"/>
            <a:ext cx="7434072" cy="251460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/>
        </p:spPr>
      </p:sp>
      <p:pic>
        <p:nvPicPr>
          <p:cNvPr id="8" name="g2_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3749040"/>
            <a:ext cx="411480" cy="411480"/>
          </a:xfrm>
          <a:prstGeom prst="rect">
            <a:avLst/>
          </a:prstGeom>
        </p:spPr>
      </p:pic>
      <p:sp>
        <p:nvSpPr>
          <p:cNvPr id="9" name="g2_lbl"/>
          <p:cNvSpPr txBox="1"/>
          <p:nvPr/>
        </p:nvSpPr>
        <p:spPr>
          <a:xfrm>
            <a:off x="4572000" y="3721608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الهدف</a:t>
            </a:r>
            <a:endParaRPr lang="ar-SA" sz="1800" dirty="0"/>
          </a:p>
        </p:txBody>
      </p:sp>
      <p:sp>
        <p:nvSpPr>
          <p:cNvPr id="10" name="g2_goal"/>
          <p:cNvSpPr txBox="1"/>
          <p:nvPr/>
        </p:nvSpPr>
        <p:spPr>
          <a:xfrm>
            <a:off x="4572000" y="4297680"/>
            <a:ext cx="6839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dirty="0">
                <a:solidFill>
                  <a:schemeClr val="bg1"/>
                </a:solidFill>
              </a:rPr>
              <a:t>ضمان سلامة جميع الأفراد (المشاة، السائقين، العمال، الزوار) أثناء وجودهم في أماكن العمل التي تتحرك فيها المركبات، عبر التحكم في السلوك، التدريب، والتخطيط، للحد من الحوادث والإصابات.</a:t>
            </a:r>
            <a:endParaRPr lang="ar-SA" sz="19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الأشخاص · أولاً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تحديد المخاطر على الأشخاص</a:t>
            </a:r>
            <a:endParaRPr lang="en-US" sz="3400" dirty="0"/>
          </a:p>
        </p:txBody>
      </p:sp>
      <p:sp>
        <p:nvSpPr>
          <p:cNvPr id="4" name="g1_panel"/>
          <p:cNvSpPr/>
          <p:nvPr/>
        </p:nvSpPr>
        <p:spPr>
          <a:xfrm>
            <a:off x="548640" y="1691640"/>
            <a:ext cx="3291840" cy="44805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/>
        </p:spPr>
      </p:sp>
      <p:sp>
        <p:nvSpPr>
          <p:cNvPr id="5" name="g1_circle"/>
          <p:cNvSpPr/>
          <p:nvPr/>
        </p:nvSpPr>
        <p:spPr>
          <a:xfrm>
            <a:off x="1463040" y="2103120"/>
            <a:ext cx="1463040" cy="146304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170" y="2454250"/>
            <a:ext cx="760781" cy="760781"/>
          </a:xfrm>
          <a:prstGeom prst="rect">
            <a:avLst/>
          </a:prstGeom>
        </p:spPr>
      </p:pic>
      <p:sp>
        <p:nvSpPr>
          <p:cNvPr id="7" name="g1_n"/>
          <p:cNvSpPr txBox="1"/>
          <p:nvPr/>
        </p:nvSpPr>
        <p:spPr>
          <a:xfrm>
            <a:off x="548640" y="37033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5</a:t>
            </a:r>
            <a:endParaRPr lang="en-US" sz="7200" dirty="0"/>
          </a:p>
        </p:txBody>
      </p:sp>
      <p:sp>
        <p:nvSpPr>
          <p:cNvPr id="8" name="g1_l"/>
          <p:cNvSpPr txBox="1"/>
          <p:nvPr/>
        </p:nvSpPr>
        <p:spPr>
          <a:xfrm>
            <a:off x="822960" y="4800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chemeClr val="bg1"/>
                </a:solidFill>
              </a:rPr>
              <a:t>مخاطر تهدد الأفراد في الموقع</a:t>
            </a:r>
            <a:endParaRPr lang="ar-SA" sz="1700" dirty="0"/>
          </a:p>
        </p:txBody>
      </p:sp>
      <p:sp>
        <p:nvSpPr>
          <p:cNvPr id="9" name="g2_card"/>
          <p:cNvSpPr/>
          <p:nvPr/>
        </p:nvSpPr>
        <p:spPr>
          <a:xfrm>
            <a:off x="4114800" y="1691640"/>
            <a:ext cx="75255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g2_circle"/>
          <p:cNvSpPr/>
          <p:nvPr/>
        </p:nvSpPr>
        <p:spPr>
          <a:xfrm>
            <a:off x="10908792" y="1801368"/>
            <a:ext cx="530352" cy="530352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1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6684" y="1939260"/>
            <a:ext cx="254569" cy="254569"/>
          </a:xfrm>
          <a:prstGeom prst="rect">
            <a:avLst/>
          </a:prstGeom>
        </p:spPr>
      </p:pic>
      <p:sp>
        <p:nvSpPr>
          <p:cNvPr id="12" name="g2_text"/>
          <p:cNvSpPr txBox="1"/>
          <p:nvPr/>
        </p:nvSpPr>
        <p:spPr>
          <a:xfrm>
            <a:off x="4389120" y="1691640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الاقتراب الزائد من المركبات أثناء حركتها أو تحميلها.</a:t>
            </a:r>
            <a:endParaRPr lang="ar-SA" sz="1700" dirty="0"/>
          </a:p>
        </p:txBody>
      </p:sp>
      <p:sp>
        <p:nvSpPr>
          <p:cNvPr id="13" name="g3_card"/>
          <p:cNvSpPr/>
          <p:nvPr/>
        </p:nvSpPr>
        <p:spPr>
          <a:xfrm>
            <a:off x="4114800" y="2624328"/>
            <a:ext cx="75255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g3_circle"/>
          <p:cNvSpPr/>
          <p:nvPr/>
        </p:nvSpPr>
        <p:spPr>
          <a:xfrm>
            <a:off x="10908792" y="2734056"/>
            <a:ext cx="530352" cy="530352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5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6684" y="2871948"/>
            <a:ext cx="254569" cy="254569"/>
          </a:xfrm>
          <a:prstGeom prst="rect">
            <a:avLst/>
          </a:prstGeom>
        </p:spPr>
      </p:pic>
      <p:sp>
        <p:nvSpPr>
          <p:cNvPr id="16" name="g3_text"/>
          <p:cNvSpPr txBox="1"/>
          <p:nvPr/>
        </p:nvSpPr>
        <p:spPr>
          <a:xfrm>
            <a:off x="4389120" y="2624328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عبور المشاة في مناطق غير مخصصة.</a:t>
            </a:r>
            <a:endParaRPr lang="ar-SA" sz="1700" dirty="0"/>
          </a:p>
        </p:txBody>
      </p:sp>
      <p:sp>
        <p:nvSpPr>
          <p:cNvPr id="17" name="g4_card"/>
          <p:cNvSpPr/>
          <p:nvPr/>
        </p:nvSpPr>
        <p:spPr>
          <a:xfrm>
            <a:off x="4114800" y="3557016"/>
            <a:ext cx="75255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g4_circle"/>
          <p:cNvSpPr/>
          <p:nvPr/>
        </p:nvSpPr>
        <p:spPr>
          <a:xfrm>
            <a:off x="10908792" y="3666744"/>
            <a:ext cx="530352" cy="530352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9" name="g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6684" y="3804636"/>
            <a:ext cx="254569" cy="254569"/>
          </a:xfrm>
          <a:prstGeom prst="rect">
            <a:avLst/>
          </a:prstGeom>
        </p:spPr>
      </p:pic>
      <p:sp>
        <p:nvSpPr>
          <p:cNvPr id="20" name="g4_text"/>
          <p:cNvSpPr txBox="1"/>
          <p:nvPr/>
        </p:nvSpPr>
        <p:spPr>
          <a:xfrm>
            <a:off x="4389120" y="3557016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عدم وضوح الرؤية (نقاط عمياء أو إنارة ضعيفة).</a:t>
            </a:r>
            <a:endParaRPr lang="ar-SA" sz="1700" dirty="0"/>
          </a:p>
        </p:txBody>
      </p:sp>
      <p:sp>
        <p:nvSpPr>
          <p:cNvPr id="21" name="g5_card"/>
          <p:cNvSpPr/>
          <p:nvPr/>
        </p:nvSpPr>
        <p:spPr>
          <a:xfrm>
            <a:off x="4114800" y="4489704"/>
            <a:ext cx="75255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g5_circle"/>
          <p:cNvSpPr/>
          <p:nvPr/>
        </p:nvSpPr>
        <p:spPr>
          <a:xfrm>
            <a:off x="10908792" y="4599432"/>
            <a:ext cx="530352" cy="530352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23" name="g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6684" y="4737324"/>
            <a:ext cx="254569" cy="254569"/>
          </a:xfrm>
          <a:prstGeom prst="rect">
            <a:avLst/>
          </a:prstGeom>
        </p:spPr>
      </p:pic>
      <p:sp>
        <p:nvSpPr>
          <p:cNvPr id="24" name="g5_text"/>
          <p:cNvSpPr txBox="1"/>
          <p:nvPr/>
        </p:nvSpPr>
        <p:spPr>
          <a:xfrm>
            <a:off x="4389120" y="4489704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تعب السائقين أو ضعف الانتباه.</a:t>
            </a:r>
            <a:endParaRPr lang="ar-SA" sz="1700" dirty="0"/>
          </a:p>
        </p:txBody>
      </p:sp>
      <p:sp>
        <p:nvSpPr>
          <p:cNvPr id="25" name="g6_card"/>
          <p:cNvSpPr/>
          <p:nvPr/>
        </p:nvSpPr>
        <p:spPr>
          <a:xfrm>
            <a:off x="4114800" y="5422392"/>
            <a:ext cx="75255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g6_circle"/>
          <p:cNvSpPr/>
          <p:nvPr/>
        </p:nvSpPr>
        <p:spPr>
          <a:xfrm>
            <a:off x="10908792" y="5532120"/>
            <a:ext cx="530352" cy="530352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27" name="g6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6684" y="5670012"/>
            <a:ext cx="254569" cy="254569"/>
          </a:xfrm>
          <a:prstGeom prst="rect">
            <a:avLst/>
          </a:prstGeom>
        </p:spPr>
      </p:pic>
      <p:sp>
        <p:nvSpPr>
          <p:cNvPr id="28" name="g6_text"/>
          <p:cNvSpPr txBox="1"/>
          <p:nvPr/>
        </p:nvSpPr>
        <p:spPr>
          <a:xfrm>
            <a:off x="4389120" y="5422392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غياب ثقافة الإبلاغ عن المخاطر أو الحوادث القريبة من الوقوع.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5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75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"/>
                            </p:stCondLst>
                            <p:childTnLst>
                              <p:par>
                                <p:cTn id="1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الأشخاص · ثانيًا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تدريب وتوعية العاملين</a:t>
            </a:r>
            <a:endParaRPr lang="en-US" sz="3400" dirty="0"/>
          </a:p>
        </p:txBody>
      </p:sp>
      <p:sp>
        <p:nvSpPr>
          <p:cNvPr id="4" name="g1_card"/>
          <p:cNvSpPr/>
          <p:nvPr/>
        </p:nvSpPr>
        <p:spPr>
          <a:xfrm>
            <a:off x="6231636" y="1691640"/>
            <a:ext cx="5408676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g1_circle"/>
          <p:cNvSpPr/>
          <p:nvPr/>
        </p:nvSpPr>
        <p:spPr>
          <a:xfrm>
            <a:off x="10725912" y="1901952"/>
            <a:ext cx="640080" cy="64008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2333" y="2068373"/>
            <a:ext cx="307238" cy="307238"/>
          </a:xfrm>
          <a:prstGeom prst="rect">
            <a:avLst/>
          </a:prstGeom>
        </p:spPr>
      </p:pic>
      <p:sp>
        <p:nvSpPr>
          <p:cNvPr id="7" name="g1_n"/>
          <p:cNvSpPr txBox="1"/>
          <p:nvPr/>
        </p:nvSpPr>
        <p:spPr>
          <a:xfrm>
            <a:off x="6505956" y="1901952"/>
            <a:ext cx="3991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WorkSafe WA</a:t>
            </a:r>
            <a:endParaRPr lang="en-US" sz="2400" dirty="0"/>
          </a:p>
        </p:txBody>
      </p:sp>
      <p:pic>
        <p:nvPicPr>
          <p:cNvPr id="8" name="g1_c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816352"/>
            <a:ext cx="256032" cy="256032"/>
          </a:xfrm>
          <a:prstGeom prst="rect">
            <a:avLst/>
          </a:prstGeom>
        </p:spPr>
      </p:pic>
      <p:sp>
        <p:nvSpPr>
          <p:cNvPr id="9" name="g1_t0"/>
          <p:cNvSpPr txBox="1"/>
          <p:nvPr/>
        </p:nvSpPr>
        <p:spPr>
          <a:xfrm>
            <a:off x="6505956" y="274320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يجب تدريب جميع الأفراد على إجراءات السلامة الخاصة بحركة المركبات.</a:t>
            </a:r>
            <a:endParaRPr lang="ar-SA" sz="1500" dirty="0"/>
          </a:p>
        </p:txBody>
      </p:sp>
      <p:pic>
        <p:nvPicPr>
          <p:cNvPr id="10" name="g1_c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3639312"/>
            <a:ext cx="256032" cy="256032"/>
          </a:xfrm>
          <a:prstGeom prst="rect">
            <a:avLst/>
          </a:prstGeom>
        </p:spPr>
      </p:pic>
      <p:sp>
        <p:nvSpPr>
          <p:cNvPr id="11" name="g1_t1"/>
          <p:cNvSpPr txBox="1"/>
          <p:nvPr/>
        </p:nvSpPr>
        <p:spPr>
          <a:xfrm>
            <a:off x="6505956" y="356616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شرح خرائط الموقع ومسارات المشاة والمركبات.</a:t>
            </a:r>
            <a:endParaRPr lang="ar-SA" sz="1500" dirty="0"/>
          </a:p>
        </p:txBody>
      </p:sp>
      <p:pic>
        <p:nvPicPr>
          <p:cNvPr id="12" name="g1_c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4462272"/>
            <a:ext cx="256032" cy="256032"/>
          </a:xfrm>
          <a:prstGeom prst="rect">
            <a:avLst/>
          </a:prstGeom>
        </p:spPr>
      </p:pic>
      <p:sp>
        <p:nvSpPr>
          <p:cNvPr id="13" name="g1_t2"/>
          <p:cNvSpPr txBox="1"/>
          <p:nvPr/>
        </p:nvSpPr>
        <p:spPr>
          <a:xfrm>
            <a:off x="6505956" y="438912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تنظيم تدريبات دورية على الإخلاء والتعامل مع الحوادث.</a:t>
            </a:r>
            <a:endParaRPr lang="ar-SA" sz="1500" dirty="0"/>
          </a:p>
        </p:txBody>
      </p:sp>
      <p:pic>
        <p:nvPicPr>
          <p:cNvPr id="14" name="g1_c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0" y="5285232"/>
            <a:ext cx="256032" cy="256032"/>
          </a:xfrm>
          <a:prstGeom prst="rect">
            <a:avLst/>
          </a:prstGeom>
        </p:spPr>
      </p:pic>
      <p:sp>
        <p:nvSpPr>
          <p:cNvPr id="15" name="g1_t3"/>
          <p:cNvSpPr txBox="1"/>
          <p:nvPr/>
        </p:nvSpPr>
        <p:spPr>
          <a:xfrm>
            <a:off x="6505956" y="521208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إشراك العمال في مراجعة المخاطر وتقديم الملاحظات.</a:t>
            </a:r>
            <a:endParaRPr lang="ar-SA" sz="1500" dirty="0"/>
          </a:p>
        </p:txBody>
      </p:sp>
      <p:sp>
        <p:nvSpPr>
          <p:cNvPr id="16" name="g2_card"/>
          <p:cNvSpPr/>
          <p:nvPr/>
        </p:nvSpPr>
        <p:spPr>
          <a:xfrm>
            <a:off x="548640" y="1691640"/>
            <a:ext cx="5408676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g2_circle"/>
          <p:cNvSpPr/>
          <p:nvPr/>
        </p:nvSpPr>
        <p:spPr>
          <a:xfrm>
            <a:off x="5042916" y="1901952"/>
            <a:ext cx="640080" cy="64008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8" name="g2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9337" y="2068373"/>
            <a:ext cx="307238" cy="307238"/>
          </a:xfrm>
          <a:prstGeom prst="rect">
            <a:avLst/>
          </a:prstGeom>
        </p:spPr>
      </p:pic>
      <p:sp>
        <p:nvSpPr>
          <p:cNvPr id="19" name="g2_n"/>
          <p:cNvSpPr txBox="1"/>
          <p:nvPr/>
        </p:nvSpPr>
        <p:spPr>
          <a:xfrm>
            <a:off x="822960" y="1901952"/>
            <a:ext cx="3991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IOSH</a:t>
            </a:r>
            <a:endParaRPr lang="en-US" sz="2400" dirty="0"/>
          </a:p>
        </p:txBody>
      </p:sp>
      <p:pic>
        <p:nvPicPr>
          <p:cNvPr id="20" name="g2_c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6964" y="2816352"/>
            <a:ext cx="256032" cy="256032"/>
          </a:xfrm>
          <a:prstGeom prst="rect">
            <a:avLst/>
          </a:prstGeom>
        </p:spPr>
      </p:pic>
      <p:sp>
        <p:nvSpPr>
          <p:cNvPr id="21" name="g2_t0"/>
          <p:cNvSpPr txBox="1"/>
          <p:nvPr/>
        </p:nvSpPr>
        <p:spPr>
          <a:xfrm>
            <a:off x="822960" y="274320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تشدد على أن السلوك الآمن هو خط الدفاع الأول.</a:t>
            </a:r>
            <a:endParaRPr lang="ar-SA" sz="1500" dirty="0"/>
          </a:p>
        </p:txBody>
      </p:sp>
      <p:pic>
        <p:nvPicPr>
          <p:cNvPr id="22" name="g2_c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6964" y="3639312"/>
            <a:ext cx="256032" cy="256032"/>
          </a:xfrm>
          <a:prstGeom prst="rect">
            <a:avLst/>
          </a:prstGeom>
        </p:spPr>
      </p:pic>
      <p:sp>
        <p:nvSpPr>
          <p:cNvPr id="23" name="g2_t1"/>
          <p:cNvSpPr txBox="1"/>
          <p:nvPr/>
        </p:nvSpPr>
        <p:spPr>
          <a:xfrm>
            <a:off x="822960" y="356616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ضرورة التأكد من أن العاملين يدركون المخاطر المرتبطة بكل مهمة.</a:t>
            </a:r>
            <a:endParaRPr lang="ar-SA" sz="1500" dirty="0"/>
          </a:p>
        </p:txBody>
      </p:sp>
      <p:pic>
        <p:nvPicPr>
          <p:cNvPr id="24" name="g2_c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6964" y="4462272"/>
            <a:ext cx="256032" cy="256032"/>
          </a:xfrm>
          <a:prstGeom prst="rect">
            <a:avLst/>
          </a:prstGeom>
        </p:spPr>
      </p:pic>
      <p:sp>
        <p:nvSpPr>
          <p:cNvPr id="25" name="g2_t2"/>
          <p:cNvSpPr txBox="1"/>
          <p:nvPr/>
        </p:nvSpPr>
        <p:spPr>
          <a:xfrm>
            <a:off x="822960" y="438912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تنفيذ برامج تحفيزية لرفع الوعي بالسلوك الآمن (مثل مكافآت الالتزام بالسلامة).</a:t>
            </a:r>
            <a:endParaRPr lang="ar-SA" sz="1500" dirty="0"/>
          </a:p>
        </p:txBody>
      </p:sp>
      <p:pic>
        <p:nvPicPr>
          <p:cNvPr id="26" name="g2_c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6964" y="5285232"/>
            <a:ext cx="256032" cy="256032"/>
          </a:xfrm>
          <a:prstGeom prst="rect">
            <a:avLst/>
          </a:prstGeom>
        </p:spPr>
      </p:pic>
      <p:sp>
        <p:nvSpPr>
          <p:cNvPr id="27" name="g2_t3"/>
          <p:cNvSpPr txBox="1"/>
          <p:nvPr/>
        </p:nvSpPr>
        <p:spPr>
          <a:xfrm>
            <a:off x="822960" y="521208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تدريب السائقين على القيادة الآمنة داخل المواقع المغلقة.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الأشخاص · ثالثًا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ملابس وتجهيزات الحماية الشخصية</a:t>
            </a:r>
            <a:endParaRPr lang="en-US" sz="3400" dirty="0"/>
          </a:p>
        </p:txBody>
      </p:sp>
      <p:sp>
        <p:nvSpPr>
          <p:cNvPr id="4" name="g1_card"/>
          <p:cNvSpPr/>
          <p:nvPr/>
        </p:nvSpPr>
        <p:spPr>
          <a:xfrm>
            <a:off x="9052560" y="1691640"/>
            <a:ext cx="2587752" cy="4480560"/>
          </a:xfrm>
          <a:prstGeom prst="roundRect">
            <a:avLst>
              <a:gd name="adj" fmla="val 42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g1_circle"/>
          <p:cNvSpPr/>
          <p:nvPr/>
        </p:nvSpPr>
        <p:spPr>
          <a:xfrm>
            <a:off x="9752076" y="2011680"/>
            <a:ext cx="1188720" cy="118872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7369" y="2296973"/>
            <a:ext cx="618134" cy="618134"/>
          </a:xfrm>
          <a:prstGeom prst="rect">
            <a:avLst/>
          </a:prstGeom>
        </p:spPr>
      </p:pic>
      <p:sp>
        <p:nvSpPr>
          <p:cNvPr id="7" name="g1_h"/>
          <p:cNvSpPr txBox="1"/>
          <p:nvPr/>
        </p:nvSpPr>
        <p:spPr>
          <a:xfrm>
            <a:off x="9235440" y="33832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الرؤية العالية</a:t>
            </a:r>
            <a:endParaRPr lang="ar-SA" sz="1900" dirty="0"/>
          </a:p>
        </p:txBody>
      </p:sp>
      <p:sp>
        <p:nvSpPr>
          <p:cNvPr id="8" name="g1_t"/>
          <p:cNvSpPr txBox="1"/>
          <p:nvPr/>
        </p:nvSpPr>
        <p:spPr>
          <a:xfrm>
            <a:off x="9326880" y="4023360"/>
            <a:ext cx="2039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الملابس العاكسة للرؤية العالية خصوصًا في الليل أو في المناطق المزدحمة.</a:t>
            </a:r>
            <a:endParaRPr lang="ar-SA" sz="1700" dirty="0"/>
          </a:p>
        </p:txBody>
      </p:sp>
      <p:sp>
        <p:nvSpPr>
          <p:cNvPr id="9" name="g1_en"/>
          <p:cNvSpPr txBox="1"/>
          <p:nvPr/>
        </p:nvSpPr>
        <p:spPr>
          <a:xfrm>
            <a:off x="9326880" y="548640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High-Visibility Clothing</a:t>
            </a:r>
            <a:endParaRPr lang="en-US" sz="1400" dirty="0"/>
          </a:p>
        </p:txBody>
      </p:sp>
      <p:sp>
        <p:nvSpPr>
          <p:cNvPr id="10" name="g2_card"/>
          <p:cNvSpPr/>
          <p:nvPr/>
        </p:nvSpPr>
        <p:spPr>
          <a:xfrm>
            <a:off x="6217920" y="1691640"/>
            <a:ext cx="2587752" cy="4480560"/>
          </a:xfrm>
          <a:prstGeom prst="roundRect">
            <a:avLst>
              <a:gd name="adj" fmla="val 42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g2_circle"/>
          <p:cNvSpPr/>
          <p:nvPr/>
        </p:nvSpPr>
        <p:spPr>
          <a:xfrm>
            <a:off x="6917436" y="2011680"/>
            <a:ext cx="1188720" cy="118872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2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729" y="2296973"/>
            <a:ext cx="618134" cy="618134"/>
          </a:xfrm>
          <a:prstGeom prst="rect">
            <a:avLst/>
          </a:prstGeom>
        </p:spPr>
      </p:pic>
      <p:sp>
        <p:nvSpPr>
          <p:cNvPr id="13" name="g2_h"/>
          <p:cNvSpPr txBox="1"/>
          <p:nvPr/>
        </p:nvSpPr>
        <p:spPr>
          <a:xfrm>
            <a:off x="6400800" y="33832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الأحذية الواقية</a:t>
            </a:r>
            <a:endParaRPr lang="ar-SA" sz="1900" dirty="0"/>
          </a:p>
        </p:txBody>
      </p:sp>
      <p:sp>
        <p:nvSpPr>
          <p:cNvPr id="14" name="g2_t"/>
          <p:cNvSpPr txBox="1"/>
          <p:nvPr/>
        </p:nvSpPr>
        <p:spPr>
          <a:xfrm>
            <a:off x="6492240" y="4023360"/>
            <a:ext cx="2039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الأحذية الواقية ضد الانزلاق أو السقوط.</a:t>
            </a:r>
            <a:endParaRPr lang="ar-SA" sz="1700" dirty="0"/>
          </a:p>
        </p:txBody>
      </p:sp>
      <p:sp>
        <p:nvSpPr>
          <p:cNvPr id="15" name="g3_card"/>
          <p:cNvSpPr/>
          <p:nvPr/>
        </p:nvSpPr>
        <p:spPr>
          <a:xfrm>
            <a:off x="3383280" y="1691640"/>
            <a:ext cx="2587752" cy="4480560"/>
          </a:xfrm>
          <a:prstGeom prst="roundRect">
            <a:avLst>
              <a:gd name="adj" fmla="val 42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g3_circle"/>
          <p:cNvSpPr/>
          <p:nvPr/>
        </p:nvSpPr>
        <p:spPr>
          <a:xfrm>
            <a:off x="4082796" y="2011680"/>
            <a:ext cx="1188720" cy="118872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7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089" y="2296973"/>
            <a:ext cx="618134" cy="618134"/>
          </a:xfrm>
          <a:prstGeom prst="rect">
            <a:avLst/>
          </a:prstGeom>
        </p:spPr>
      </p:pic>
      <p:sp>
        <p:nvSpPr>
          <p:cNvPr id="18" name="g3_h"/>
          <p:cNvSpPr txBox="1"/>
          <p:nvPr/>
        </p:nvSpPr>
        <p:spPr>
          <a:xfrm>
            <a:off x="3566160" y="33832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الخوذة والسماعات</a:t>
            </a:r>
            <a:endParaRPr lang="ar-SA" sz="1900" dirty="0"/>
          </a:p>
        </p:txBody>
      </p:sp>
      <p:sp>
        <p:nvSpPr>
          <p:cNvPr id="19" name="g3_t"/>
          <p:cNvSpPr txBox="1"/>
          <p:nvPr/>
        </p:nvSpPr>
        <p:spPr>
          <a:xfrm>
            <a:off x="3657600" y="4023360"/>
            <a:ext cx="2039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خوذات الأمان وسماعات الحماية في المناطق ذات الضوضاء العالية.</a:t>
            </a:r>
            <a:endParaRPr lang="ar-SA" sz="1700" dirty="0"/>
          </a:p>
        </p:txBody>
      </p:sp>
      <p:sp>
        <p:nvSpPr>
          <p:cNvPr id="20" name="g4_card"/>
          <p:cNvSpPr/>
          <p:nvPr/>
        </p:nvSpPr>
        <p:spPr>
          <a:xfrm>
            <a:off x="548640" y="1691640"/>
            <a:ext cx="2587752" cy="4480560"/>
          </a:xfrm>
          <a:prstGeom prst="roundRect">
            <a:avLst>
              <a:gd name="adj" fmla="val 42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g4_circle"/>
          <p:cNvSpPr/>
          <p:nvPr/>
        </p:nvSpPr>
        <p:spPr>
          <a:xfrm>
            <a:off x="1248156" y="2011680"/>
            <a:ext cx="1188720" cy="118872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22" name="g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449" y="2296973"/>
            <a:ext cx="618134" cy="618134"/>
          </a:xfrm>
          <a:prstGeom prst="rect">
            <a:avLst/>
          </a:prstGeom>
        </p:spPr>
      </p:pic>
      <p:sp>
        <p:nvSpPr>
          <p:cNvPr id="23" name="g4_h"/>
          <p:cNvSpPr txBox="1"/>
          <p:nvPr/>
        </p:nvSpPr>
        <p:spPr>
          <a:xfrm>
            <a:off x="731520" y="33832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الفحص والاستبدال</a:t>
            </a:r>
            <a:endParaRPr lang="ar-SA" sz="1900" dirty="0"/>
          </a:p>
        </p:txBody>
      </p:sp>
      <p:sp>
        <p:nvSpPr>
          <p:cNvPr id="24" name="g4_t"/>
          <p:cNvSpPr txBox="1"/>
          <p:nvPr/>
        </p:nvSpPr>
        <p:spPr>
          <a:xfrm>
            <a:off x="822960" y="4023360"/>
            <a:ext cx="2039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التأكد من أن جميع معدات الحماية تُستخدم بانتظام وتُستبدل عند التلف.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50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4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الأشخاص · رابعًا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سلوك المشاة والسائقين</a:t>
            </a:r>
            <a:endParaRPr lang="en-US" sz="3400" dirty="0"/>
          </a:p>
        </p:txBody>
      </p:sp>
      <p:pic>
        <p:nvPicPr>
          <p:cNvPr id="4" name="g1_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1673352"/>
            <a:ext cx="365760" cy="365760"/>
          </a:xfrm>
          <a:prstGeom prst="rect">
            <a:avLst/>
          </a:prstGeom>
        </p:spPr>
      </p:pic>
      <p:sp>
        <p:nvSpPr>
          <p:cNvPr id="5" name="g1_t"/>
          <p:cNvSpPr txBox="1"/>
          <p:nvPr/>
        </p:nvSpPr>
        <p:spPr>
          <a:xfrm>
            <a:off x="822960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</a:rPr>
              <a:t>إرشادات عامة</a:t>
            </a:r>
            <a:endParaRPr lang="ar-SA" sz="2000" dirty="0"/>
          </a:p>
        </p:txBody>
      </p:sp>
      <p:sp>
        <p:nvSpPr>
          <p:cNvPr id="6" name="g2_card"/>
          <p:cNvSpPr/>
          <p:nvPr/>
        </p:nvSpPr>
        <p:spPr>
          <a:xfrm>
            <a:off x="548640" y="2240280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g2_circle"/>
          <p:cNvSpPr/>
          <p:nvPr/>
        </p:nvSpPr>
        <p:spPr>
          <a:xfrm>
            <a:off x="10963656" y="2331720"/>
            <a:ext cx="493776" cy="49377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8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287" y="2440351"/>
            <a:ext cx="276515" cy="276515"/>
          </a:xfrm>
          <a:prstGeom prst="rect">
            <a:avLst/>
          </a:prstGeom>
        </p:spPr>
      </p:pic>
      <p:sp>
        <p:nvSpPr>
          <p:cNvPr id="9" name="g2_t"/>
          <p:cNvSpPr txBox="1"/>
          <p:nvPr/>
        </p:nvSpPr>
        <p:spPr>
          <a:xfrm>
            <a:off x="2011680" y="2240280"/>
            <a:ext cx="8778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لا يُسمح للمشاة بدخول مناطق المركبات إلا للضرورة وبإذن.</a:t>
            </a:r>
            <a:endParaRPr lang="ar-SA" sz="1700" dirty="0"/>
          </a:p>
        </p:txBody>
      </p:sp>
      <p:sp>
        <p:nvSpPr>
          <p:cNvPr id="10" name="g2_pill"/>
          <p:cNvSpPr/>
          <p:nvPr/>
        </p:nvSpPr>
        <p:spPr>
          <a:xfrm>
            <a:off x="731520" y="2395728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g2_pt"/>
          <p:cNvSpPr txBox="1"/>
          <p:nvPr/>
        </p:nvSpPr>
        <p:spPr>
          <a:xfrm>
            <a:off x="731520" y="2395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bg1"/>
                </a:solidFill>
              </a:rPr>
              <a:t>ممنوع</a:t>
            </a:r>
            <a:endParaRPr lang="ar-SA" sz="1300" dirty="0"/>
          </a:p>
        </p:txBody>
      </p:sp>
      <p:sp>
        <p:nvSpPr>
          <p:cNvPr id="12" name="g3_card"/>
          <p:cNvSpPr/>
          <p:nvPr/>
        </p:nvSpPr>
        <p:spPr>
          <a:xfrm>
            <a:off x="548640" y="3044952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g3_circle"/>
          <p:cNvSpPr/>
          <p:nvPr/>
        </p:nvSpPr>
        <p:spPr>
          <a:xfrm>
            <a:off x="10963656" y="3136392"/>
            <a:ext cx="493776" cy="49377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4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287" y="3245023"/>
            <a:ext cx="276515" cy="276515"/>
          </a:xfrm>
          <a:prstGeom prst="rect">
            <a:avLst/>
          </a:prstGeom>
        </p:spPr>
      </p:pic>
      <p:sp>
        <p:nvSpPr>
          <p:cNvPr id="15" name="g3_t"/>
          <p:cNvSpPr txBox="1"/>
          <p:nvPr/>
        </p:nvSpPr>
        <p:spPr>
          <a:xfrm>
            <a:off x="2011680" y="3044952"/>
            <a:ext cx="8778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يُمنع استخدام الهاتف أو سماعات الأذن أثناء الحركة في المناطق النشطة بالمركبات.</a:t>
            </a:r>
            <a:endParaRPr lang="ar-SA" sz="1700" dirty="0"/>
          </a:p>
        </p:txBody>
      </p:sp>
      <p:sp>
        <p:nvSpPr>
          <p:cNvPr id="16" name="g3_pill"/>
          <p:cNvSpPr/>
          <p:nvPr/>
        </p:nvSpPr>
        <p:spPr>
          <a:xfrm>
            <a:off x="731520" y="320040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7" name="g3_pt"/>
          <p:cNvSpPr txBox="1"/>
          <p:nvPr/>
        </p:nvSpPr>
        <p:spPr>
          <a:xfrm>
            <a:off x="73152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bg1"/>
                </a:solidFill>
              </a:rPr>
              <a:t>ممنوع</a:t>
            </a:r>
            <a:endParaRPr lang="ar-SA" sz="1300" dirty="0"/>
          </a:p>
        </p:txBody>
      </p:sp>
      <p:sp>
        <p:nvSpPr>
          <p:cNvPr id="18" name="g4_card"/>
          <p:cNvSpPr/>
          <p:nvPr/>
        </p:nvSpPr>
        <p:spPr>
          <a:xfrm>
            <a:off x="548640" y="3849624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9" name="g4_circle"/>
          <p:cNvSpPr/>
          <p:nvPr/>
        </p:nvSpPr>
        <p:spPr>
          <a:xfrm>
            <a:off x="10963656" y="3941064"/>
            <a:ext cx="493776" cy="493776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20" name="g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2287" y="4049695"/>
            <a:ext cx="276515" cy="276515"/>
          </a:xfrm>
          <a:prstGeom prst="rect">
            <a:avLst/>
          </a:prstGeom>
        </p:spPr>
      </p:pic>
      <p:sp>
        <p:nvSpPr>
          <p:cNvPr id="21" name="g4_t"/>
          <p:cNvSpPr txBox="1"/>
          <p:nvPr/>
        </p:nvSpPr>
        <p:spPr>
          <a:xfrm>
            <a:off x="2011680" y="3849624"/>
            <a:ext cx="8778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الالتزام بالمسارات المحددة للمشاة والمناطق الآمنة.</a:t>
            </a:r>
            <a:endParaRPr lang="ar-SA" sz="1700" dirty="0"/>
          </a:p>
        </p:txBody>
      </p:sp>
      <p:sp>
        <p:nvSpPr>
          <p:cNvPr id="22" name="g4_pill"/>
          <p:cNvSpPr/>
          <p:nvPr/>
        </p:nvSpPr>
        <p:spPr>
          <a:xfrm>
            <a:off x="731520" y="4005072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g4_pt"/>
          <p:cNvSpPr txBox="1"/>
          <p:nvPr/>
        </p:nvSpPr>
        <p:spPr>
          <a:xfrm>
            <a:off x="731520" y="40050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bg1"/>
                </a:solidFill>
              </a:rPr>
              <a:t>إلزامي</a:t>
            </a:r>
            <a:endParaRPr lang="ar-SA" sz="1300" dirty="0"/>
          </a:p>
        </p:txBody>
      </p:sp>
      <p:sp>
        <p:nvSpPr>
          <p:cNvPr id="24" name="g5_card"/>
          <p:cNvSpPr/>
          <p:nvPr/>
        </p:nvSpPr>
        <p:spPr>
          <a:xfrm>
            <a:off x="548640" y="4654296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g5_circle"/>
          <p:cNvSpPr/>
          <p:nvPr/>
        </p:nvSpPr>
        <p:spPr>
          <a:xfrm>
            <a:off x="10963656" y="4745736"/>
            <a:ext cx="493776" cy="493776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26" name="g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2287" y="4854367"/>
            <a:ext cx="276515" cy="276515"/>
          </a:xfrm>
          <a:prstGeom prst="rect">
            <a:avLst/>
          </a:prstGeom>
        </p:spPr>
      </p:pic>
      <p:sp>
        <p:nvSpPr>
          <p:cNvPr id="27" name="g5_t"/>
          <p:cNvSpPr txBox="1"/>
          <p:nvPr/>
        </p:nvSpPr>
        <p:spPr>
          <a:xfrm>
            <a:off x="2011680" y="4654296"/>
            <a:ext cx="8778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السائقون ملزمون بالتوقف الكامل عند نقاط العبور.</a:t>
            </a:r>
            <a:endParaRPr lang="ar-SA" sz="1700" dirty="0"/>
          </a:p>
        </p:txBody>
      </p:sp>
      <p:sp>
        <p:nvSpPr>
          <p:cNvPr id="28" name="g5_pill"/>
          <p:cNvSpPr/>
          <p:nvPr/>
        </p:nvSpPr>
        <p:spPr>
          <a:xfrm>
            <a:off x="731520" y="4809744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9" name="g5_pt"/>
          <p:cNvSpPr txBox="1"/>
          <p:nvPr/>
        </p:nvSpPr>
        <p:spPr>
          <a:xfrm>
            <a:off x="731520" y="4809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bg1"/>
                </a:solidFill>
              </a:rPr>
              <a:t>إلزامي</a:t>
            </a:r>
            <a:endParaRPr lang="ar-SA" sz="1300" dirty="0"/>
          </a:p>
        </p:txBody>
      </p:sp>
      <p:sp>
        <p:nvSpPr>
          <p:cNvPr id="30" name="g6_card"/>
          <p:cNvSpPr/>
          <p:nvPr/>
        </p:nvSpPr>
        <p:spPr>
          <a:xfrm>
            <a:off x="548640" y="5458968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g6_circle"/>
          <p:cNvSpPr/>
          <p:nvPr/>
        </p:nvSpPr>
        <p:spPr>
          <a:xfrm>
            <a:off x="10963656" y="5550408"/>
            <a:ext cx="493776" cy="49377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32" name="g6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2287" y="5659039"/>
            <a:ext cx="276515" cy="276515"/>
          </a:xfrm>
          <a:prstGeom prst="rect">
            <a:avLst/>
          </a:prstGeom>
        </p:spPr>
      </p:pic>
      <p:sp>
        <p:nvSpPr>
          <p:cNvPr id="33" name="g6_t"/>
          <p:cNvSpPr txBox="1"/>
          <p:nvPr/>
        </p:nvSpPr>
        <p:spPr>
          <a:xfrm>
            <a:off x="2011680" y="5458968"/>
            <a:ext cx="8778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لا تُترك المركبات في وضع التشغيل دون إشراف.</a:t>
            </a:r>
            <a:endParaRPr lang="ar-SA" sz="1700" dirty="0"/>
          </a:p>
        </p:txBody>
      </p:sp>
      <p:sp>
        <p:nvSpPr>
          <p:cNvPr id="34" name="g6_pill"/>
          <p:cNvSpPr/>
          <p:nvPr/>
        </p:nvSpPr>
        <p:spPr>
          <a:xfrm>
            <a:off x="731520" y="5614416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5" name="g6_pt"/>
          <p:cNvSpPr txBox="1"/>
          <p:nvPr/>
        </p:nvSpPr>
        <p:spPr>
          <a:xfrm>
            <a:off x="731520" y="56144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bg1"/>
                </a:solidFill>
              </a:rPr>
              <a:t>ممنوع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400"/>
                            </p:stCondLst>
                            <p:childTnLst>
                              <p:par>
                                <p:cTn id="9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75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100"/>
                            </p:stCondLst>
                            <p:childTnLst>
                              <p:par>
                                <p:cTn id="1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الأشخاص · خامسًا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إدارة العاملين والسائقين</a:t>
            </a:r>
            <a:endParaRPr lang="en-US" sz="3400" dirty="0"/>
          </a:p>
        </p:txBody>
      </p:sp>
      <p:sp>
        <p:nvSpPr>
          <p:cNvPr id="4" name="g1_card"/>
          <p:cNvSpPr/>
          <p:nvPr/>
        </p:nvSpPr>
        <p:spPr>
          <a:xfrm>
            <a:off x="8125968" y="169164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g1_circle"/>
          <p:cNvSpPr/>
          <p:nvPr/>
        </p:nvSpPr>
        <p:spPr>
          <a:xfrm>
            <a:off x="10725912" y="1947672"/>
            <a:ext cx="640080" cy="64008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2333" y="2114093"/>
            <a:ext cx="307238" cy="307238"/>
          </a:xfrm>
          <a:prstGeom prst="rect">
            <a:avLst/>
          </a:prstGeom>
        </p:spPr>
      </p:pic>
      <p:sp>
        <p:nvSpPr>
          <p:cNvPr id="7" name="g1_t"/>
          <p:cNvSpPr txBox="1"/>
          <p:nvPr/>
        </p:nvSpPr>
        <p:spPr>
          <a:xfrm>
            <a:off x="8400288" y="2697480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التأكد من أن كل سائق مؤهل ومدرب ومرخّص له لقيادة نوع المركبة داخل الموقع.</a:t>
            </a:r>
            <a:endParaRPr lang="ar-SA" sz="1600" dirty="0"/>
          </a:p>
        </p:txBody>
      </p:sp>
      <p:sp>
        <p:nvSpPr>
          <p:cNvPr id="8" name="g2_card"/>
          <p:cNvSpPr/>
          <p:nvPr/>
        </p:nvSpPr>
        <p:spPr>
          <a:xfrm>
            <a:off x="4337304" y="169164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g2_circle"/>
          <p:cNvSpPr/>
          <p:nvPr/>
        </p:nvSpPr>
        <p:spPr>
          <a:xfrm>
            <a:off x="6937248" y="1947672"/>
            <a:ext cx="640080" cy="64008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0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669" y="2114093"/>
            <a:ext cx="307238" cy="307238"/>
          </a:xfrm>
          <a:prstGeom prst="rect">
            <a:avLst/>
          </a:prstGeom>
        </p:spPr>
      </p:pic>
      <p:sp>
        <p:nvSpPr>
          <p:cNvPr id="11" name="g2_t"/>
          <p:cNvSpPr txBox="1"/>
          <p:nvPr/>
        </p:nvSpPr>
        <p:spPr>
          <a:xfrm>
            <a:off x="4611624" y="2697480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المراقبة المستمرة لأداء السائقين (بما في ذلك الإرهاق أو التسرع).</a:t>
            </a:r>
            <a:endParaRPr lang="ar-SA" sz="1600" dirty="0"/>
          </a:p>
        </p:txBody>
      </p:sp>
      <p:sp>
        <p:nvSpPr>
          <p:cNvPr id="12" name="g3_card"/>
          <p:cNvSpPr/>
          <p:nvPr/>
        </p:nvSpPr>
        <p:spPr>
          <a:xfrm>
            <a:off x="548640" y="169164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g3_circle"/>
          <p:cNvSpPr/>
          <p:nvPr/>
        </p:nvSpPr>
        <p:spPr>
          <a:xfrm>
            <a:off x="3148584" y="1947672"/>
            <a:ext cx="640080" cy="64008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4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005" y="2114093"/>
            <a:ext cx="307238" cy="307238"/>
          </a:xfrm>
          <a:prstGeom prst="rect">
            <a:avLst/>
          </a:prstGeom>
        </p:spPr>
      </p:pic>
      <p:sp>
        <p:nvSpPr>
          <p:cNvPr id="15" name="g3_t"/>
          <p:cNvSpPr txBox="1"/>
          <p:nvPr/>
        </p:nvSpPr>
        <p:spPr>
          <a:xfrm>
            <a:off x="822960" y="2697480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جدولة فترات راحة كافية لتجنب التعب.</a:t>
            </a:r>
            <a:endParaRPr lang="ar-SA" sz="1600" dirty="0"/>
          </a:p>
        </p:txBody>
      </p:sp>
      <p:sp>
        <p:nvSpPr>
          <p:cNvPr id="16" name="g4_card"/>
          <p:cNvSpPr/>
          <p:nvPr/>
        </p:nvSpPr>
        <p:spPr>
          <a:xfrm>
            <a:off x="6231636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g4_circle"/>
          <p:cNvSpPr/>
          <p:nvPr/>
        </p:nvSpPr>
        <p:spPr>
          <a:xfrm>
            <a:off x="10725912" y="4325112"/>
            <a:ext cx="640080" cy="64008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8" name="g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2333" y="4491533"/>
            <a:ext cx="307238" cy="307238"/>
          </a:xfrm>
          <a:prstGeom prst="rect">
            <a:avLst/>
          </a:prstGeom>
        </p:spPr>
      </p:pic>
      <p:sp>
        <p:nvSpPr>
          <p:cNvPr id="19" name="g4_t"/>
          <p:cNvSpPr txBox="1"/>
          <p:nvPr/>
        </p:nvSpPr>
        <p:spPr>
          <a:xfrm>
            <a:off x="6505956" y="5074920"/>
            <a:ext cx="48600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إجراء تقييم دوري للياقة البدنية والذهنية للسائقين.</a:t>
            </a:r>
            <a:endParaRPr lang="ar-SA" sz="1600" dirty="0"/>
          </a:p>
        </p:txBody>
      </p:sp>
      <p:sp>
        <p:nvSpPr>
          <p:cNvPr id="20" name="g5_card"/>
          <p:cNvSpPr/>
          <p:nvPr/>
        </p:nvSpPr>
        <p:spPr>
          <a:xfrm>
            <a:off x="548640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g5_circle"/>
          <p:cNvSpPr/>
          <p:nvPr/>
        </p:nvSpPr>
        <p:spPr>
          <a:xfrm>
            <a:off x="5042916" y="4325112"/>
            <a:ext cx="640080" cy="64008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2" name="g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9337" y="4491533"/>
            <a:ext cx="307238" cy="307238"/>
          </a:xfrm>
          <a:prstGeom prst="rect">
            <a:avLst/>
          </a:prstGeom>
        </p:spPr>
      </p:pic>
      <p:sp>
        <p:nvSpPr>
          <p:cNvPr id="23" name="g5_t"/>
          <p:cNvSpPr txBox="1"/>
          <p:nvPr/>
        </p:nvSpPr>
        <p:spPr>
          <a:xfrm>
            <a:off x="822960" y="5074920"/>
            <a:ext cx="48600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حظر القيادة تحت تأثير الكحول أو الأدوية المؤثرة على التركيز.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4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750"/>
                            </p:stCondLst>
                            <p:childTnLst>
                              <p:par>
                                <p:cTn id="1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الأشخاص · سادسًا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التواصل والإشراف</a:t>
            </a:r>
            <a:endParaRPr lang="en-US" sz="3400" dirty="0"/>
          </a:p>
        </p:txBody>
      </p:sp>
      <p:sp>
        <p:nvSpPr>
          <p:cNvPr id="4" name="g1_card"/>
          <p:cNvSpPr/>
          <p:nvPr/>
        </p:nvSpPr>
        <p:spPr>
          <a:xfrm>
            <a:off x="6231636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g1_circle"/>
          <p:cNvSpPr/>
          <p:nvPr/>
        </p:nvSpPr>
        <p:spPr>
          <a:xfrm>
            <a:off x="10588752" y="1984248"/>
            <a:ext cx="731520" cy="73152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6" name="g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8947" y="2174443"/>
            <a:ext cx="351130" cy="351130"/>
          </a:xfrm>
          <a:prstGeom prst="rect">
            <a:avLst/>
          </a:prstGeom>
        </p:spPr>
      </p:pic>
      <p:sp>
        <p:nvSpPr>
          <p:cNvPr id="7" name="g1_num"/>
          <p:cNvSpPr txBox="1"/>
          <p:nvPr/>
        </p:nvSpPr>
        <p:spPr>
          <a:xfrm>
            <a:off x="6551676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01</a:t>
            </a:r>
            <a:endParaRPr lang="en-US" sz="3600" dirty="0"/>
          </a:p>
        </p:txBody>
      </p:sp>
      <p:sp>
        <p:nvSpPr>
          <p:cNvPr id="8" name="g1_text"/>
          <p:cNvSpPr txBox="1"/>
          <p:nvPr/>
        </p:nvSpPr>
        <p:spPr>
          <a:xfrm>
            <a:off x="6551676" y="27889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bg1"/>
                </a:solidFill>
              </a:rPr>
              <a:t>وجود مشرف سلامة أو مراقب حركة في المواقع الكبيرة.</a:t>
            </a:r>
            <a:endParaRPr lang="ar-SA" sz="1700" dirty="0"/>
          </a:p>
        </p:txBody>
      </p:sp>
      <p:sp>
        <p:nvSpPr>
          <p:cNvPr id="9" name="g2_card"/>
          <p:cNvSpPr/>
          <p:nvPr/>
        </p:nvSpPr>
        <p:spPr>
          <a:xfrm>
            <a:off x="548640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g2_circle"/>
          <p:cNvSpPr/>
          <p:nvPr/>
        </p:nvSpPr>
        <p:spPr>
          <a:xfrm>
            <a:off x="4905756" y="1984248"/>
            <a:ext cx="731520" cy="73152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1" name="g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951" y="2174443"/>
            <a:ext cx="351130" cy="351130"/>
          </a:xfrm>
          <a:prstGeom prst="rect">
            <a:avLst/>
          </a:prstGeom>
        </p:spPr>
      </p:pic>
      <p:sp>
        <p:nvSpPr>
          <p:cNvPr id="12" name="g2_num"/>
          <p:cNvSpPr txBox="1"/>
          <p:nvPr/>
        </p:nvSpPr>
        <p:spPr>
          <a:xfrm>
            <a:off x="86868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02</a:t>
            </a:r>
            <a:endParaRPr lang="en-US" sz="3600" dirty="0"/>
          </a:p>
        </p:txBody>
      </p:sp>
      <p:sp>
        <p:nvSpPr>
          <p:cNvPr id="13" name="g2_text"/>
          <p:cNvSpPr txBox="1"/>
          <p:nvPr/>
        </p:nvSpPr>
        <p:spPr>
          <a:xfrm>
            <a:off x="868680" y="27889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bg1"/>
                </a:solidFill>
              </a:rPr>
              <a:t>استخدام وسائل اتصال واضحة وآمنة (راديو – إشارات يدوية – لوحات مرئية).</a:t>
            </a:r>
            <a:endParaRPr lang="ar-SA" sz="1700" dirty="0"/>
          </a:p>
        </p:txBody>
      </p:sp>
      <p:sp>
        <p:nvSpPr>
          <p:cNvPr id="14" name="g3_card"/>
          <p:cNvSpPr/>
          <p:nvPr/>
        </p:nvSpPr>
        <p:spPr>
          <a:xfrm>
            <a:off x="6231636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g3_circle"/>
          <p:cNvSpPr/>
          <p:nvPr/>
        </p:nvSpPr>
        <p:spPr>
          <a:xfrm>
            <a:off x="10588752" y="4361688"/>
            <a:ext cx="731520" cy="73152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6" name="g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947" y="4551883"/>
            <a:ext cx="351130" cy="351130"/>
          </a:xfrm>
          <a:prstGeom prst="rect">
            <a:avLst/>
          </a:prstGeom>
        </p:spPr>
      </p:pic>
      <p:sp>
        <p:nvSpPr>
          <p:cNvPr id="17" name="g3_num"/>
          <p:cNvSpPr txBox="1"/>
          <p:nvPr/>
        </p:nvSpPr>
        <p:spPr>
          <a:xfrm>
            <a:off x="6551676" y="4343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03</a:t>
            </a:r>
            <a:endParaRPr lang="en-US" sz="3600" dirty="0"/>
          </a:p>
        </p:txBody>
      </p:sp>
      <p:sp>
        <p:nvSpPr>
          <p:cNvPr id="18" name="g3_text"/>
          <p:cNvSpPr txBox="1"/>
          <p:nvPr/>
        </p:nvSpPr>
        <p:spPr>
          <a:xfrm>
            <a:off x="6551676" y="516636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bg1"/>
                </a:solidFill>
              </a:rPr>
              <a:t>إنشاء نظام إبلاغ فوري لأي حادث أو خطر.</a:t>
            </a:r>
            <a:endParaRPr lang="ar-SA" sz="1700" dirty="0"/>
          </a:p>
        </p:txBody>
      </p:sp>
      <p:sp>
        <p:nvSpPr>
          <p:cNvPr id="19" name="g4_card"/>
          <p:cNvSpPr/>
          <p:nvPr/>
        </p:nvSpPr>
        <p:spPr>
          <a:xfrm>
            <a:off x="548640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g4_circle"/>
          <p:cNvSpPr/>
          <p:nvPr/>
        </p:nvSpPr>
        <p:spPr>
          <a:xfrm>
            <a:off x="4905756" y="4361688"/>
            <a:ext cx="731520" cy="73152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21" name="g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951" y="4551883"/>
            <a:ext cx="351130" cy="351130"/>
          </a:xfrm>
          <a:prstGeom prst="rect">
            <a:avLst/>
          </a:prstGeom>
        </p:spPr>
      </p:pic>
      <p:sp>
        <p:nvSpPr>
          <p:cNvPr id="22" name="g4_num"/>
          <p:cNvSpPr txBox="1"/>
          <p:nvPr/>
        </p:nvSpPr>
        <p:spPr>
          <a:xfrm>
            <a:off x="868680" y="4343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04</a:t>
            </a:r>
            <a:endParaRPr lang="en-US" sz="3600" dirty="0"/>
          </a:p>
        </p:txBody>
      </p:sp>
      <p:sp>
        <p:nvSpPr>
          <p:cNvPr id="23" name="g4_text"/>
          <p:cNvSpPr txBox="1"/>
          <p:nvPr/>
        </p:nvSpPr>
        <p:spPr>
          <a:xfrm>
            <a:off x="868680" y="516636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bg1"/>
                </a:solidFill>
              </a:rPr>
              <a:t>التأكد من أن جميع الزوار يتلقون توجيهًا أوليًا عن السلامة قبل دخول الموقع.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50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400"/>
                            </p:stCondLst>
                            <p:childTnLst>
                              <p:par>
                                <p:cTn id="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2926080" y="347472"/>
            <a:ext cx="8714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سلامة الأشخاص · سابعًا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194560" y="676656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ثقافة السلامة والسلوك الإيجابي</a:t>
            </a:r>
            <a:endParaRPr lang="en-US" sz="3400" dirty="0"/>
          </a:p>
        </p:txBody>
      </p:sp>
      <p:sp>
        <p:nvSpPr>
          <p:cNvPr id="4" name="g1_q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pic>
        <p:nvPicPr>
          <p:cNvPr id="5" name="g1_q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1965960"/>
            <a:ext cx="502920" cy="502920"/>
          </a:xfrm>
          <a:prstGeom prst="rect">
            <a:avLst/>
          </a:prstGeom>
        </p:spPr>
      </p:pic>
      <p:sp>
        <p:nvSpPr>
          <p:cNvPr id="6" name="g1_qt"/>
          <p:cNvSpPr txBox="1"/>
          <p:nvPr/>
        </p:nvSpPr>
        <p:spPr>
          <a:xfrm>
            <a:off x="914400" y="16916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السلامة ليست فقط إجراءات، بل هي ثقافة وسلوك يومي.</a:t>
            </a:r>
            <a:endParaRPr lang="ar-SA" sz="2400" dirty="0"/>
          </a:p>
        </p:txBody>
      </p:sp>
      <p:sp>
        <p:nvSpPr>
          <p:cNvPr id="7" name="g2_l"/>
          <p:cNvSpPr txBox="1"/>
          <p:nvPr/>
        </p:nvSpPr>
        <p:spPr>
          <a:xfrm>
            <a:off x="7982712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ولتحقيق ذلك:</a:t>
            </a:r>
            <a:endParaRPr lang="ar-SA" sz="1800" dirty="0"/>
          </a:p>
        </p:txBody>
      </p:sp>
      <p:sp>
        <p:nvSpPr>
          <p:cNvPr id="8" name="g3_card"/>
          <p:cNvSpPr/>
          <p:nvPr/>
        </p:nvSpPr>
        <p:spPr>
          <a:xfrm>
            <a:off x="9052560" y="3520440"/>
            <a:ext cx="2587752" cy="2651760"/>
          </a:xfrm>
          <a:prstGeom prst="roundRect">
            <a:avLst>
              <a:gd name="adj" fmla="val 42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g3_circle"/>
          <p:cNvSpPr/>
          <p:nvPr/>
        </p:nvSpPr>
        <p:spPr>
          <a:xfrm>
            <a:off x="10725912" y="3749040"/>
            <a:ext cx="640080" cy="64008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0" name="g3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333" y="3915461"/>
            <a:ext cx="307238" cy="307238"/>
          </a:xfrm>
          <a:prstGeom prst="rect">
            <a:avLst/>
          </a:prstGeom>
        </p:spPr>
      </p:pic>
      <p:sp>
        <p:nvSpPr>
          <p:cNvPr id="11" name="g3_t"/>
          <p:cNvSpPr txBox="1"/>
          <p:nvPr/>
        </p:nvSpPr>
        <p:spPr>
          <a:xfrm>
            <a:off x="9326880" y="4572000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مكافأة الالتزام والانضباط في السلوك الآمن.</a:t>
            </a:r>
            <a:endParaRPr lang="ar-SA" sz="1600" dirty="0"/>
          </a:p>
        </p:txBody>
      </p:sp>
      <p:sp>
        <p:nvSpPr>
          <p:cNvPr id="12" name="g4_card"/>
          <p:cNvSpPr/>
          <p:nvPr/>
        </p:nvSpPr>
        <p:spPr>
          <a:xfrm>
            <a:off x="6217920" y="3520440"/>
            <a:ext cx="2587752" cy="2651760"/>
          </a:xfrm>
          <a:prstGeom prst="roundRect">
            <a:avLst>
              <a:gd name="adj" fmla="val 42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g4_circle"/>
          <p:cNvSpPr/>
          <p:nvPr/>
        </p:nvSpPr>
        <p:spPr>
          <a:xfrm>
            <a:off x="7891272" y="3749040"/>
            <a:ext cx="640080" cy="64008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4" name="g4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93" y="3915461"/>
            <a:ext cx="307238" cy="307238"/>
          </a:xfrm>
          <a:prstGeom prst="rect">
            <a:avLst/>
          </a:prstGeom>
        </p:spPr>
      </p:pic>
      <p:sp>
        <p:nvSpPr>
          <p:cNvPr id="15" name="g4_t"/>
          <p:cNvSpPr txBox="1"/>
          <p:nvPr/>
        </p:nvSpPr>
        <p:spPr>
          <a:xfrm>
            <a:off x="6492240" y="4572000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تعزيز التواصل بين الإدارة والعاملين بشأن المخاطر والتحسينات.</a:t>
            </a:r>
            <a:endParaRPr lang="ar-SA" sz="1600" dirty="0"/>
          </a:p>
        </p:txBody>
      </p:sp>
      <p:sp>
        <p:nvSpPr>
          <p:cNvPr id="16" name="g5_card"/>
          <p:cNvSpPr/>
          <p:nvPr/>
        </p:nvSpPr>
        <p:spPr>
          <a:xfrm>
            <a:off x="3383280" y="3520440"/>
            <a:ext cx="2587752" cy="2651760"/>
          </a:xfrm>
          <a:prstGeom prst="roundRect">
            <a:avLst>
              <a:gd name="adj" fmla="val 42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g5_circle"/>
          <p:cNvSpPr/>
          <p:nvPr/>
        </p:nvSpPr>
        <p:spPr>
          <a:xfrm>
            <a:off x="5056632" y="3749040"/>
            <a:ext cx="640080" cy="64008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18" name="g5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053" y="3915461"/>
            <a:ext cx="307238" cy="307238"/>
          </a:xfrm>
          <a:prstGeom prst="rect">
            <a:avLst/>
          </a:prstGeom>
        </p:spPr>
      </p:pic>
      <p:sp>
        <p:nvSpPr>
          <p:cNvPr id="19" name="g5_t"/>
          <p:cNvSpPr txBox="1"/>
          <p:nvPr/>
        </p:nvSpPr>
        <p:spPr>
          <a:xfrm>
            <a:off x="3657600" y="4572000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جعل شعار السلامة جزءًا من بيئة العمل اليومية.</a:t>
            </a:r>
            <a:endParaRPr lang="ar-SA" sz="1600" dirty="0"/>
          </a:p>
        </p:txBody>
      </p:sp>
      <p:sp>
        <p:nvSpPr>
          <p:cNvPr id="20" name="g5_en"/>
          <p:cNvSpPr txBox="1"/>
          <p:nvPr/>
        </p:nvSpPr>
        <p:spPr>
          <a:xfrm>
            <a:off x="3566160" y="562356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chemeClr val="accent2"/>
                </a:solidFill>
              </a:rPr>
              <a:t>Think Safety – Act Safely</a:t>
            </a:r>
            <a:endParaRPr lang="en-US" sz="1200" dirty="0"/>
          </a:p>
        </p:txBody>
      </p:sp>
      <p:sp>
        <p:nvSpPr>
          <p:cNvPr id="21" name="g6_card"/>
          <p:cNvSpPr/>
          <p:nvPr/>
        </p:nvSpPr>
        <p:spPr>
          <a:xfrm>
            <a:off x="548640" y="3520440"/>
            <a:ext cx="2587752" cy="2651760"/>
          </a:xfrm>
          <a:prstGeom prst="roundRect">
            <a:avLst>
              <a:gd name="adj" fmla="val 42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g6_circle"/>
          <p:cNvSpPr/>
          <p:nvPr/>
        </p:nvSpPr>
        <p:spPr>
          <a:xfrm>
            <a:off x="2221992" y="3749040"/>
            <a:ext cx="640080" cy="640080"/>
          </a:xfrm>
          <a:prstGeom prst="ellipse">
            <a:avLst/>
          </a:prstGeom>
          <a:solidFill>
            <a:srgbClr val="14A098"/>
          </a:solidFill>
          <a:ln/>
        </p:spPr>
      </p:sp>
      <p:pic>
        <p:nvPicPr>
          <p:cNvPr id="23" name="g6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8413" y="3915461"/>
            <a:ext cx="307238" cy="307238"/>
          </a:xfrm>
          <a:prstGeom prst="rect">
            <a:avLst/>
          </a:prstGeom>
        </p:spPr>
      </p:pic>
      <p:sp>
        <p:nvSpPr>
          <p:cNvPr id="24" name="g6_t"/>
          <p:cNvSpPr txBox="1"/>
          <p:nvPr/>
        </p:nvSpPr>
        <p:spPr>
          <a:xfrm>
            <a:off x="822960" y="4572000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تقديم تغذية راجعة مستمرة بعد كل حادث أو تدريب لتحسين الممارسات.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5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75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100"/>
                            </p:stCondLst>
                            <p:childTnLst>
                              <p:par>
                                <p:cTn id="1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206240" y="1828800"/>
            <a:ext cx="7434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نهاية العرض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206240" y="2331720"/>
            <a:ext cx="7434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أي سؤال؟</a:t>
            </a:r>
            <a:endParaRPr lang="en-US" sz="5000" dirty="0"/>
          </a:p>
        </p:txBody>
      </p:sp>
      <p:sp>
        <p:nvSpPr>
          <p:cNvPr id="4" name="g1_t"/>
          <p:cNvSpPr txBox="1"/>
          <p:nvPr/>
        </p:nvSpPr>
        <p:spPr>
          <a:xfrm>
            <a:off x="4206240" y="3657600"/>
            <a:ext cx="7434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accent5"/>
                </a:solidFill>
              </a:rPr>
              <a:t>شكرًا لحسن استماعكم</a:t>
            </a:r>
            <a:endParaRPr lang="ar-SA" sz="2400" dirty="0"/>
          </a:p>
        </p:txBody>
      </p:sp>
      <p:sp>
        <p:nvSpPr>
          <p:cNvPr id="5" name="g2_s"/>
          <p:cNvSpPr txBox="1"/>
          <p:nvPr/>
        </p:nvSpPr>
        <p:spPr>
          <a:xfrm>
            <a:off x="4206240" y="4389120"/>
            <a:ext cx="7434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Think Safety – Act Safely</a:t>
            </a:r>
            <a:endParaRPr lang="en-US" sz="2200" dirty="0"/>
          </a:p>
        </p:txBody>
      </p:sp>
      <p:sp>
        <p:nvSpPr>
          <p:cNvPr id="6" name="g3_circle"/>
          <p:cNvSpPr/>
          <p:nvPr/>
        </p:nvSpPr>
        <p:spPr>
          <a:xfrm>
            <a:off x="914400" y="1463040"/>
            <a:ext cx="3291840" cy="32918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7" name="g3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442" y="2253082"/>
            <a:ext cx="1711757" cy="1711757"/>
          </a:xfrm>
          <a:prstGeom prst="rect">
            <a:avLst/>
          </a:prstGeom>
        </p:spPr>
      </p:pic>
      <p:sp>
        <p:nvSpPr>
          <p:cNvPr id="8" name="g4_lb"/>
          <p:cNvSpPr/>
          <p:nvPr/>
        </p:nvSpPr>
        <p:spPr>
          <a:xfrm>
            <a:off x="548640" y="5715000"/>
            <a:ext cx="249631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pic>
        <p:nvPicPr>
          <p:cNvPr id="9" name="g4_logo" descr="شعار المؤسسة العامة للتدريب التقني والمهن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788152"/>
            <a:ext cx="1859162" cy="676656"/>
          </a:xfrm>
          <a:prstGeom prst="rect">
            <a:avLst/>
          </a:prstGeom>
        </p:spPr>
      </p:pic>
      <p:sp>
        <p:nvSpPr>
          <p:cNvPr id="10" name="g4_c"/>
          <p:cNvSpPr txBox="1"/>
          <p:nvPr/>
        </p:nvSpPr>
        <p:spPr>
          <a:xfrm>
            <a:off x="7068312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accent5"/>
                </a:solidFill>
              </a:rPr>
              <a:t>الكلية التقنية للبنات بالبدائع</a:t>
            </a:r>
            <a:endParaRPr lang="ar-SA" sz="14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</p:bldLst>
  </p:timing>
</p:sld>
</file>

<file path=ppt/theme/theme1.xml><?xml version="1.0" encoding="utf-8"?>
<a:theme xmlns:a="http://schemas.openxmlformats.org/drawingml/2006/main" name="Site Traffic Safety">
  <a:themeElements>
    <a:clrScheme name="Site Traffic Safety">
      <a:dk1>
        <a:srgbClr val="1B2430"/>
      </a:dk1>
      <a:lt1>
        <a:srgbClr val="FFFFFF"/>
      </a:lt1>
      <a:dk2>
        <a:srgbClr val="0B2545"/>
      </a:dk2>
      <a:lt2>
        <a:srgbClr val="F3F5F9"/>
      </a:lt2>
      <a:accent1>
        <a:srgbClr val="F2A900"/>
      </a:accent1>
      <a:accent2>
        <a:srgbClr val="14A098"/>
      </a:accent2>
      <a:accent3>
        <a:srgbClr val="1D4E7A"/>
      </a:accent3>
      <a:accent4>
        <a:srgbClr val="D64545"/>
      </a:accent4>
      <a:accent5>
        <a:srgbClr val="DCE6F2"/>
      </a:accent5>
      <a:accent6>
        <a:srgbClr val="5B6B7F"/>
      </a:accent6>
      <a:hlink>
        <a:srgbClr val="1D4E7A"/>
      </a:hlink>
      <a:folHlink>
        <a:srgbClr val="5B6B7F"/>
      </a:folHlink>
    </a:clrScheme>
    <a:fontScheme name="Site Traffic Safet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سلامة المركبات وسلامة الأشخاص</dc:title>
  <dc:subject>PptxGenJS Presentation</dc:subject>
  <dc:creator>PptxGenJS</dc:creator>
  <cp:lastModifiedBy>PptxGenJS</cp:lastModifiedBy>
  <cp:revision>1</cp:revision>
  <dcterms:created xsi:type="dcterms:W3CDTF">2026-10-31T16:05:09Z</dcterms:created>
  <dcterms:modified xsi:type="dcterms:W3CDTF">2026-10-31T16:05:09Z</dcterms:modified>
</cp:coreProperties>
</file>